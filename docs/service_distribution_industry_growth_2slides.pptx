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760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服务分发行业增长  |  工作思路与打法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01168"/>
            <a:ext cx="731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1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服务分发行业增长：四行业深耕，沉淀可复制增长引擎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1097280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66176"/>
                </a:solidFill>
                <a:latin typeface="Microsoft YaHei"/>
              </a:rPr>
              <a:t>围绕金融、泛娱乐、游戏和本地生活，以业务BP牵引增长，以行业打法沉淀支撑新行业孵化。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" y="1609344"/>
            <a:ext cx="11155680" cy="475488"/>
          </a:xfrm>
          <a:prstGeom prst="roundRect">
            <a:avLst/>
          </a:prstGeom>
          <a:solidFill>
            <a:srgbClr val="16233D"/>
          </a:solidFill>
          <a:ln w="1016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3258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技术沉淀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764792"/>
            <a:ext cx="37033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FFFFFF"/>
                </a:solidFill>
                <a:latin typeface="Microsoft YaHei"/>
              </a:rPr>
              <a:t>行业打法标准化 · 关键能力复制 · 新行业价值评估与孵化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1728216"/>
            <a:ext cx="4114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55648"/>
            <a:ext cx="13258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764792"/>
            <a:ext cx="329184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FFFFFF"/>
                </a:solidFill>
                <a:latin typeface="Microsoft YaHei"/>
              </a:rPr>
              <a:t>四行业对齐BP · 找到增量机会 · 提升收入与订单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258568"/>
            <a:ext cx="29260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72033"/>
                </a:solidFill>
                <a:latin typeface="Microsoft YaHei"/>
              </a:rPr>
              <a:t>四大行业增长全景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2587752"/>
            <a:ext cx="2551176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2587752"/>
            <a:ext cx="50292" cy="1444752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2715768"/>
            <a:ext cx="658368" cy="228600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56916"/>
            <a:ext cx="658368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</a:rPr>
              <a:t>重点行业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026664"/>
            <a:ext cx="22402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金融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319272"/>
            <a:ext cx="224028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566176"/>
                </a:solidFill>
                <a:latin typeface="Microsoft YaHei"/>
              </a:rPr>
              <a:t>借贷：待补｜保险：400+单/日｜证券：20–30单/日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657600"/>
            <a:ext cx="22402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C7000B"/>
                </a:solidFill>
                <a:latin typeface="Microsoft YaHei"/>
              </a:rPr>
              <a:t>意向/质量标签 + 场景经营 + 归因校准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587752"/>
            <a:ext cx="2551176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2587752"/>
            <a:ext cx="50292" cy="1444752"/>
          </a:xfrm>
          <a:prstGeom prst="rect">
            <a:avLst/>
          </a:prstGeom>
          <a:solidFill>
            <a:srgbClr val="7257C8"/>
          </a:solidFill>
          <a:ln w="1270">
            <a:solidFill>
              <a:srgbClr val="725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38728" y="2715768"/>
            <a:ext cx="658368" cy="228600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756916"/>
            <a:ext cx="658368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7257C8"/>
                </a:solidFill>
                <a:latin typeface="Microsoft YaHei"/>
              </a:rPr>
              <a:t>重点行业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3026664"/>
            <a:ext cx="22402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泛娱乐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3319272"/>
            <a:ext cx="224028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566176"/>
                </a:solidFill>
                <a:latin typeface="Microsoft YaHei"/>
              </a:rPr>
              <a:t>小红书、抖音｜核心经营数据待补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657600"/>
            <a:ext cx="22402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7257C8"/>
                </a:solidFill>
                <a:latin typeface="Microsoft YaHei"/>
              </a:rPr>
              <a:t>兴趣标签 + 通勤/闲暇场景 + 内容分发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587752"/>
            <a:ext cx="2551176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4496" y="2587752"/>
            <a:ext cx="50292" cy="1444752"/>
          </a:xfrm>
          <a:prstGeom prst="rect">
            <a:avLst/>
          </a:prstGeom>
          <a:solidFill>
            <a:srgbClr val="D98200"/>
          </a:solidFill>
          <a:ln w="127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9944" y="2715768"/>
            <a:ext cx="658368" cy="22860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2756916"/>
            <a:ext cx="658368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D98200"/>
                </a:solidFill>
                <a:latin typeface="Microsoft YaHei"/>
              </a:rPr>
              <a:t>重点行业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3026664"/>
            <a:ext cx="22402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游戏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319272"/>
            <a:ext cx="224028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566176"/>
                </a:solidFill>
                <a:latin typeface="Microsoft YaHei"/>
              </a:rPr>
              <a:t>APK / RPK｜收入与库存数据待补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657600"/>
            <a:ext cx="22402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D98200"/>
                </a:solidFill>
                <a:latin typeface="Microsoft YaHei"/>
              </a:rPr>
              <a:t>预约下载 + 版本唤醒 + 秒开试玩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2587752"/>
            <a:ext cx="2551176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25712" y="2587752"/>
            <a:ext cx="50292" cy="1444752"/>
          </a:xfrm>
          <a:prstGeom prst="rect">
            <a:avLst/>
          </a:prstGeom>
          <a:solidFill>
            <a:srgbClr val="0C8F7A"/>
          </a:solidFill>
          <a:ln w="1270">
            <a:solidFill>
              <a:srgbClr val="0C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81160" y="2715768"/>
            <a:ext cx="658368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2756916"/>
            <a:ext cx="658368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C8F7A"/>
                </a:solidFill>
                <a:latin typeface="Microsoft YaHei"/>
              </a:rPr>
              <a:t>重点行业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026664"/>
            <a:ext cx="22402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本地生活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319272"/>
            <a:ext cx="224028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566176"/>
                </a:solidFill>
                <a:latin typeface="Microsoft YaHei"/>
              </a:rPr>
              <a:t>美团、瑞幸、同程｜订单数据待补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657600"/>
            <a:ext cx="22402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C8F7A"/>
                </a:solidFill>
                <a:latin typeface="Microsoft YaHei"/>
              </a:rPr>
              <a:t>垂类链路优化 + Uplift投放 + 供给增长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4261104"/>
            <a:ext cx="402336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72033"/>
                </a:solidFill>
                <a:latin typeface="Microsoft YaHei"/>
              </a:rPr>
              <a:t>三层能力：从数据底座到业务落地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" y="4590288"/>
            <a:ext cx="352044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7512" y="4718303"/>
            <a:ext cx="274320" cy="274320"/>
          </a:xfrm>
          <a:prstGeom prst="ellipse">
            <a:avLst/>
          </a:prstGeom>
          <a:solidFill>
            <a:srgbClr val="2F6BFF"/>
          </a:solidFill>
          <a:ln w="254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764024"/>
            <a:ext cx="274320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4727448"/>
            <a:ext cx="2843784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数据应用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" y="5056631"/>
            <a:ext cx="3209544" cy="2286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5097779"/>
            <a:ext cx="32095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F6BFF"/>
                </a:solidFill>
                <a:latin typeface="Microsoft YaHei"/>
              </a:rPr>
              <a:t>面向业务落地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" y="5394959"/>
            <a:ext cx="320954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阵地建设：场景卡片、阵地页
广告投放：预算→AIGC素材→场景承接
元服务：链路转化、人群效率、供给生态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34256" y="4590288"/>
            <a:ext cx="352044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89704" y="4718303"/>
            <a:ext cx="274320" cy="274320"/>
          </a:xfrm>
          <a:prstGeom prst="ellipse">
            <a:avLst/>
          </a:prstGeom>
          <a:solidFill>
            <a:srgbClr val="7257C8"/>
          </a:solidFill>
          <a:ln w="2540">
            <a:solidFill>
              <a:srgbClr val="725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9704" y="4764024"/>
            <a:ext cx="274320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5464" y="4727448"/>
            <a:ext cx="2843784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分析洞察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9704" y="5056631"/>
            <a:ext cx="3209544" cy="228600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9704" y="5097779"/>
            <a:ext cx="32095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7257C8"/>
                </a:solidFill>
                <a:latin typeface="Microsoft YaHei"/>
              </a:rPr>
              <a:t>面向决策支撑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9704" y="5394959"/>
            <a:ext cx="320954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增长分析：行业洞察、作战地图、黄金指标
营销科学：人群分层、策略设计、因果度量
输出可执行增长策略，而非停留在报告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65592" y="4590288"/>
            <a:ext cx="352044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21040" y="4718303"/>
            <a:ext cx="274320" cy="274320"/>
          </a:xfrm>
          <a:prstGeom prst="ellipse">
            <a:avLst/>
          </a:prstGeom>
          <a:solidFill>
            <a:srgbClr val="0C8F7A"/>
          </a:solidFill>
          <a:ln w="2540">
            <a:solidFill>
              <a:srgbClr val="0C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4764024"/>
            <a:ext cx="274320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727448"/>
            <a:ext cx="2843784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数据能力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1040" y="5056631"/>
            <a:ext cx="3209544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5097779"/>
            <a:ext cx="32095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C8F7A"/>
                </a:solidFill>
                <a:latin typeface="Microsoft YaHei"/>
              </a:rPr>
              <a:t>面向效率提升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394959"/>
            <a:ext cx="320954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场景感知：实时意图标签、行业场景库
数据资产：采集→旅程模型→标签→人群包
DataAgent：问数→归因→建议→策略落地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6199632"/>
            <a:ext cx="1097280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7000B"/>
                </a:solidFill>
                <a:latin typeface="Microsoft YaHei"/>
              </a:rPr>
              <a:t>最终价值：四行业BP达成 + 行业增长方法论沉淀 + 关键能力向新行业快速复制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" y="6565392"/>
            <a:ext cx="8961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992A3"/>
                </a:solidFill>
                <a:latin typeface="Microsoft YaHei"/>
              </a:rPr>
              <a:t>注：标注“待补”的经营数据需在BP评审前补齐并统一口径。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6565392"/>
            <a:ext cx="214884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>
                <a:solidFill>
                  <a:srgbClr val="8992A3"/>
                </a:solidFill>
                <a:latin typeface="Microsoft YaHei"/>
              </a:rPr>
              <a:t>数据团队 · 2027规划研讨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7607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服务分发行业增长  |  工作思路与打法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01168"/>
            <a:ext cx="731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2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关键打法：场景感知 × 营销科学 × Agent化闭环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1097280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66176"/>
                </a:solidFill>
                <a:latin typeface="Microsoft YaHei"/>
              </a:rPr>
              <a:t>从多源信号识别“此时此地的需求”，沉淀人群资产并形成可度量、可复制、可自动执行的行业经营闭环。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2743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72033"/>
                </a:solidFill>
                <a:latin typeface="Microsoft YaHei"/>
              </a:rPr>
              <a:t>端到端增长闭环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947672"/>
            <a:ext cx="1600200" cy="79552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信号采集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意图/时空/事件</a:t>
            </a:r>
          </a:p>
        </p:txBody>
      </p:sp>
      <p:sp>
        <p:nvSpPr>
          <p:cNvPr id="12" name="Chevron 11"/>
          <p:cNvSpPr/>
          <p:nvPr/>
        </p:nvSpPr>
        <p:spPr>
          <a:xfrm>
            <a:off x="2176272" y="2231136"/>
            <a:ext cx="137160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1947672"/>
            <a:ext cx="1600200" cy="795528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场景识别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实时意图标签</a:t>
            </a:r>
          </a:p>
        </p:txBody>
      </p:sp>
      <p:sp>
        <p:nvSpPr>
          <p:cNvPr id="17" name="Chevron 16"/>
          <p:cNvSpPr/>
          <p:nvPr/>
        </p:nvSpPr>
        <p:spPr>
          <a:xfrm>
            <a:off x="4041648" y="2231136"/>
            <a:ext cx="137160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2816" y="1947672"/>
            <a:ext cx="1600200" cy="795528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7257C8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资产沉淀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旅程/标签/人群</a:t>
            </a:r>
          </a:p>
        </p:txBody>
      </p:sp>
      <p:sp>
        <p:nvSpPr>
          <p:cNvPr id="22" name="Chevron 21"/>
          <p:cNvSpPr/>
          <p:nvPr/>
        </p:nvSpPr>
        <p:spPr>
          <a:xfrm>
            <a:off x="5907024" y="2231136"/>
            <a:ext cx="137160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08192" y="1947672"/>
            <a:ext cx="1600200" cy="795528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7257C8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策略落地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投放/活动/分发</a:t>
            </a:r>
          </a:p>
        </p:txBody>
      </p:sp>
      <p:sp>
        <p:nvSpPr>
          <p:cNvPr id="27" name="Chevron 26"/>
          <p:cNvSpPr/>
          <p:nvPr/>
        </p:nvSpPr>
        <p:spPr>
          <a:xfrm>
            <a:off x="7772400" y="2231136"/>
            <a:ext cx="137160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3568" y="1947672"/>
            <a:ext cx="1600200" cy="795528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0C8F7A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增量度量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因果/长期价值</a:t>
            </a:r>
          </a:p>
        </p:txBody>
      </p:sp>
      <p:sp>
        <p:nvSpPr>
          <p:cNvPr id="32" name="Chevron 31"/>
          <p:cNvSpPr/>
          <p:nvPr/>
        </p:nvSpPr>
        <p:spPr>
          <a:xfrm>
            <a:off x="9637776" y="2231136"/>
            <a:ext cx="137160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38944" y="1947672"/>
            <a:ext cx="1600200" cy="795528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2057400"/>
            <a:ext cx="25603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0C8F7A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286000"/>
            <a:ext cx="1399032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172033"/>
                </a:solidFill>
                <a:latin typeface="Microsoft YaHei"/>
              </a:rPr>
              <a:t>复制放大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523744"/>
            <a:ext cx="1453896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566176"/>
                </a:solidFill>
                <a:latin typeface="Microsoft YaHei"/>
              </a:rPr>
              <a:t>行业打法标准化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2999232"/>
            <a:ext cx="3511296" cy="2624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6656" y="3154679"/>
            <a:ext cx="640080" cy="228600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195827"/>
            <a:ext cx="640080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7257C8"/>
                </a:solidFill>
                <a:latin typeface="Microsoft YaHei"/>
              </a:rPr>
              <a:t>决策层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474720"/>
            <a:ext cx="31546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033"/>
                </a:solidFill>
                <a:latin typeface="Microsoft YaHei"/>
              </a:rPr>
              <a:t>分析洞察：看清现状，找到解法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" y="3803904"/>
            <a:ext cx="3182112" cy="877824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3922776"/>
            <a:ext cx="29260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增长分析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4169664"/>
            <a:ext cx="2926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行业全景：规模/增速、竞争、预算份额、渗透率
作战地图：目标、场景、北极星、策略、模型、协同
黄金指标：OSM / AARRR / HEART分层拆解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4745736"/>
            <a:ext cx="3182112" cy="877824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864607"/>
            <a:ext cx="29260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257C8"/>
                </a:solidFill>
                <a:latin typeface="Microsoft YaHei"/>
              </a:rPr>
              <a:t>营销科学闭环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5111496"/>
            <a:ext cx="2926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人群资产分层 → 流转优先级
策略设计：投放/活动/分发/产品体验
因果推断 + 长期实验 + 增量归因校准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40" y="2999232"/>
            <a:ext cx="3767328" cy="2624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70832" y="3154679"/>
            <a:ext cx="640080" cy="22860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2" y="3195827"/>
            <a:ext cx="640080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D98200"/>
                </a:solidFill>
                <a:latin typeface="Microsoft YaHei"/>
              </a:rPr>
              <a:t>场景层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3474720"/>
            <a:ext cx="3401568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033"/>
                </a:solidFill>
                <a:latin typeface="Microsoft YaHei"/>
              </a:rPr>
              <a:t>场景库：识别可触达的关键时机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70832" y="3849624"/>
            <a:ext cx="694944" cy="228600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2" y="3890772"/>
            <a:ext cx="6949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</a:rPr>
              <a:t>金融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5504" y="3858768"/>
            <a:ext cx="261518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消费/还款前夕；出行险；开收盘与自选股异动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4251960"/>
            <a:ext cx="694944" cy="228600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0832" y="4293108"/>
            <a:ext cx="6949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7257C8"/>
                </a:solidFill>
                <a:latin typeface="Microsoft YaHei"/>
              </a:rPr>
              <a:t>泛娱乐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5504" y="4261104"/>
            <a:ext cx="261518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耳机连接通勤；晚间微短剧“零秒沉浸”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70832" y="4654296"/>
            <a:ext cx="694944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0832" y="4695444"/>
            <a:ext cx="6949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C8F7A"/>
                </a:solidFill>
                <a:latin typeface="Microsoft YaHei"/>
              </a:rPr>
              <a:t>本地生活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75504" y="4663440"/>
            <a:ext cx="261518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11:30/17:30写字楼；机场/车站综合服务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70832" y="5056631"/>
            <a:ext cx="694944" cy="22860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5097779"/>
            <a:ext cx="694944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D98200"/>
                </a:solidFill>
                <a:latin typeface="Microsoft YaHei"/>
              </a:rPr>
              <a:t>游戏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75504" y="5065775"/>
            <a:ext cx="261518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66176"/>
                </a:solidFill>
                <a:latin typeface="Microsoft YaHei"/>
              </a:rPr>
              <a:t>APK预约/下载/更新唤醒；RPK秒开试玩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70832" y="5385816"/>
            <a:ext cx="3419856" cy="137160"/>
          </a:xfrm>
          <a:prstGeom prst="roundRect">
            <a:avLst/>
          </a:prstGeom>
          <a:solidFill>
            <a:srgbClr val="EEF1F5"/>
          </a:solidFill>
          <a:ln w="1016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07408" y="5404104"/>
            <a:ext cx="3346704" cy="914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566176"/>
                </a:solidFill>
                <a:latin typeface="Microsoft YaHei"/>
              </a:rPr>
              <a:t>意图感知  ｜  时空感知  ｜  事件感知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56448" y="2999232"/>
            <a:ext cx="3511296" cy="2624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21040" y="3154679"/>
            <a:ext cx="640080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0" y="3195827"/>
            <a:ext cx="640080" cy="118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C8F7A"/>
                </a:solidFill>
                <a:latin typeface="Microsoft YaHei"/>
              </a:rPr>
              <a:t>执行层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3474720"/>
            <a:ext cx="31546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033"/>
                </a:solidFill>
                <a:latin typeface="Microsoft YaHei"/>
              </a:rPr>
              <a:t>数据资产 + DataAgent规模化执行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3858768"/>
            <a:ext cx="3145536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0C8F7A"/>
                </a:solidFill>
                <a:latin typeface="Microsoft YaHei"/>
              </a:rPr>
              <a:t>数据资产全链路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21040" y="4133087"/>
            <a:ext cx="521207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57615" y="4224528"/>
            <a:ext cx="44805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C8F7A"/>
                </a:solidFill>
                <a:latin typeface="Microsoft YaHei"/>
              </a:rPr>
              <a:t>行业数据采集</a:t>
            </a:r>
          </a:p>
        </p:txBody>
      </p:sp>
      <p:sp>
        <p:nvSpPr>
          <p:cNvPr id="72" name="Chevron 71"/>
          <p:cNvSpPr/>
          <p:nvPr/>
        </p:nvSpPr>
        <p:spPr>
          <a:xfrm>
            <a:off x="8860536" y="4270248"/>
            <a:ext cx="64008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933688" y="4133087"/>
            <a:ext cx="521207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70263" y="4224528"/>
            <a:ext cx="44805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C8F7A"/>
                </a:solidFill>
                <a:latin typeface="Microsoft YaHei"/>
              </a:rPr>
              <a:t>旅程数据模型</a:t>
            </a:r>
          </a:p>
        </p:txBody>
      </p:sp>
      <p:sp>
        <p:nvSpPr>
          <p:cNvPr id="75" name="Chevron 74"/>
          <p:cNvSpPr/>
          <p:nvPr/>
        </p:nvSpPr>
        <p:spPr>
          <a:xfrm>
            <a:off x="9473184" y="4270248"/>
            <a:ext cx="64008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46336" y="4133087"/>
            <a:ext cx="521207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82911" y="4224528"/>
            <a:ext cx="44805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C8F7A"/>
                </a:solidFill>
                <a:latin typeface="Microsoft YaHei"/>
              </a:rPr>
              <a:t>行业标签</a:t>
            </a:r>
          </a:p>
        </p:txBody>
      </p:sp>
      <p:sp>
        <p:nvSpPr>
          <p:cNvPr id="78" name="Chevron 77"/>
          <p:cNvSpPr/>
          <p:nvPr/>
        </p:nvSpPr>
        <p:spPr>
          <a:xfrm>
            <a:off x="10085832" y="4270248"/>
            <a:ext cx="64008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158984" y="4133087"/>
            <a:ext cx="521207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95559" y="4224528"/>
            <a:ext cx="44805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C8F7A"/>
                </a:solidFill>
                <a:latin typeface="Microsoft YaHei"/>
              </a:rPr>
              <a:t>人群包</a:t>
            </a:r>
          </a:p>
        </p:txBody>
      </p:sp>
      <p:sp>
        <p:nvSpPr>
          <p:cNvPr id="81" name="Chevron 80"/>
          <p:cNvSpPr/>
          <p:nvPr/>
        </p:nvSpPr>
        <p:spPr>
          <a:xfrm>
            <a:off x="10698480" y="4270248"/>
            <a:ext cx="64008" cy="219456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771632" y="4133087"/>
            <a:ext cx="521207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08207" y="4224528"/>
            <a:ext cx="44805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C8F7A"/>
                </a:solidFill>
                <a:latin typeface="Microsoft YaHei"/>
              </a:rPr>
              <a:t>投放增量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4809744"/>
            <a:ext cx="3145536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2F6BFF"/>
                </a:solidFill>
                <a:latin typeface="Microsoft YaHei"/>
              </a:rPr>
              <a:t>DA自动化分析闭环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321040" y="5084064"/>
            <a:ext cx="3163824" cy="402336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94192" y="5212079"/>
            <a:ext cx="3017520" cy="1280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6BFF"/>
                </a:solidFill>
                <a:latin typeface="Microsoft YaHei"/>
              </a:rPr>
              <a:t>问数 → 归因 → 报告 → 策略建议 → 策略落地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064" y="5797296"/>
            <a:ext cx="201168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72033"/>
                </a:solidFill>
                <a:latin typeface="Microsoft YaHei"/>
              </a:rPr>
              <a:t>2027核心沉淀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938528" y="5733288"/>
            <a:ext cx="2240280" cy="5029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29968" y="5824727"/>
            <a:ext cx="20574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2F6BFF"/>
                </a:solidFill>
                <a:latin typeface="Microsoft YaHei"/>
              </a:rPr>
              <a:t>一张行业作战地图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11680" y="6035040"/>
            <a:ext cx="2093976" cy="1097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566176"/>
                </a:solidFill>
                <a:latin typeface="Microsoft YaHei"/>
              </a:rPr>
              <a:t>机会点与协同计划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15968" y="5733288"/>
            <a:ext cx="2240280" cy="502920"/>
          </a:xfrm>
          <a:prstGeom prst="roundRect">
            <a:avLst/>
          </a:prstGeom>
          <a:solidFill>
            <a:srgbClr val="F0ECFB"/>
          </a:solidFill>
          <a:ln w="10160">
            <a:solidFill>
              <a:srgbClr val="F0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07407" y="5824727"/>
            <a:ext cx="20574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7257C8"/>
                </a:solidFill>
                <a:latin typeface="Microsoft YaHei"/>
              </a:rPr>
              <a:t>一套黄金指标树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0" y="6035040"/>
            <a:ext cx="2093976" cy="1097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566176"/>
                </a:solidFill>
                <a:latin typeface="Microsoft YaHei"/>
              </a:rPr>
              <a:t>北极星到策略指标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693408" y="5733288"/>
            <a:ext cx="2240280" cy="5029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84848" y="5824727"/>
            <a:ext cx="20574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D98200"/>
                </a:solidFill>
                <a:latin typeface="Microsoft YaHei"/>
              </a:rPr>
              <a:t>一套实时场景能力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66560" y="6035040"/>
            <a:ext cx="2093976" cy="1097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566176"/>
                </a:solidFill>
                <a:latin typeface="Microsoft YaHei"/>
              </a:rPr>
              <a:t>准确率/覆盖率可评估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070848" y="5733288"/>
            <a:ext cx="2596896" cy="50292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62288" y="5824727"/>
            <a:ext cx="2414015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0C8F7A"/>
                </a:solidFill>
                <a:latin typeface="Microsoft YaHei"/>
              </a:rPr>
              <a:t>一条Agent策略闭环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0" y="6035040"/>
            <a:ext cx="2450591" cy="1097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566176"/>
                </a:solidFill>
                <a:latin typeface="Microsoft YaHei"/>
              </a:rPr>
              <a:t>建议到落地效率可量化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2064" y="6565392"/>
            <a:ext cx="8961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992A3"/>
                </a:solidFill>
                <a:latin typeface="Microsoft YaHei"/>
              </a:rPr>
              <a:t>注：场景标签需同步评估准确率、覆盖率、召回率与投放增量，避免仅以标签数量衡量。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09760" y="6565392"/>
            <a:ext cx="214884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>
                <a:solidFill>
                  <a:srgbClr val="8992A3"/>
                </a:solidFill>
                <a:latin typeface="Microsoft YaHei"/>
              </a:rPr>
              <a:t>数据团队 · 2027规划研讨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服务分发行业增长——工作思路与打法</dc:title>
  <dc:subject>2027数据团队行业增长规划汇报</dc:subject>
  <dc:creator>数据团队</dc:creator>
  <cp:keywords>服务分发, 行业增长, 数据科学, 场景感知, DataAgent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