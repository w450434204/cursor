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8992A3"/>
                </a:solidFill>
                <a:latin typeface="Microsoft YaHei"/>
              </a:rPr>
              <a:t>2027 数据中台重点工作规划  |  研讨稿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210312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8992A3"/>
                </a:solidFill>
                <a:latin typeface="Microsoft YaHei"/>
              </a:rPr>
              <a:t>01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57784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72033"/>
                </a:solidFill>
                <a:latin typeface="Microsoft YaHei"/>
              </a:rPr>
              <a:t>算法驱动增长，Agent重塑效率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66176"/>
                </a:solidFill>
                <a:latin typeface="Microsoft YaHei"/>
              </a:rPr>
              <a:t>以数据科学和搜推算法为增长双引擎，以DataAgent为效率乘数，支撑负一屏生态价值最大化。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435608"/>
            <a:ext cx="749808" cy="32004"/>
          </a:xfrm>
          <a:prstGeom prst="rect">
            <a:avLst/>
          </a:prstGeom>
          <a:solidFill>
            <a:srgbClr val="C7000B"/>
          </a:solidFill>
          <a:ln w="12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66420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增长双引擎与效率底座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011680"/>
            <a:ext cx="6656832" cy="502920"/>
          </a:xfrm>
          <a:prstGeom prst="roundRect">
            <a:avLst/>
          </a:prstGeom>
          <a:solidFill>
            <a:srgbClr val="16233D"/>
          </a:solidFill>
          <a:ln w="10160">
            <a:solidFill>
              <a:srgbClr val="16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6400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北极星：负一屏生态价值最大化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2670048"/>
            <a:ext cx="3236976" cy="13167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2807208"/>
            <a:ext cx="859536" cy="228600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830068"/>
            <a:ext cx="859536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2F6BFF"/>
                </a:solidFill>
                <a:latin typeface="Microsoft YaHei"/>
              </a:rPr>
              <a:t>数据科学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18104"/>
            <a:ext cx="29443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四大行业深度运营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29000"/>
            <a:ext cx="294436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66176"/>
                </a:solidFill>
                <a:latin typeface="Microsoft YaHei"/>
              </a:rPr>
              <a:t>金融｜泛娱乐｜本地生活/电商｜游戏
场景库 + 黄金指标 + 增量归因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670048"/>
            <a:ext cx="3236976" cy="13167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78224" y="2807208"/>
            <a:ext cx="859536" cy="228600"/>
          </a:xfrm>
          <a:prstGeom prst="roundRect">
            <a:avLst/>
          </a:prstGeom>
          <a:solidFill>
            <a:srgbClr val="E6F5F2"/>
          </a:solidFill>
          <a:ln w="10160">
            <a:solidFill>
              <a:srgbClr val="E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8224" y="2830068"/>
            <a:ext cx="859536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0C8F7A"/>
                </a:solidFill>
                <a:latin typeface="Microsoft YaHei"/>
              </a:rPr>
              <a:t>搜推算法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118104"/>
            <a:ext cx="29443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五类资源位精细分发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3429000"/>
            <a:ext cx="294436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66176"/>
                </a:solidFill>
                <a:latin typeface="Microsoft YaHei"/>
              </a:rPr>
              <a:t>探索流｜四饼｜暗纹词｜橱窗卡｜搜索
全域模型 + 实时意图 + 个性化分发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4160520"/>
            <a:ext cx="6656832" cy="603504"/>
          </a:xfrm>
          <a:prstGeom prst="roundRect">
            <a:avLst/>
          </a:prstGeom>
          <a:solidFill>
            <a:srgbClr val="FBEAEC"/>
          </a:solidFill>
          <a:ln w="10160">
            <a:solidFill>
              <a:srgbClr val="FB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4288536"/>
            <a:ext cx="629107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DataAgent × 统一业务语义 × 数据质量治理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526280"/>
            <a:ext cx="629107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66176"/>
                </a:solidFill>
                <a:latin typeface="Microsoft YaHei"/>
              </a:rPr>
              <a:t>贯通问数、归因、建议、策略与研发交付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1664208"/>
            <a:ext cx="3474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2027五项关键结果</a:t>
            </a:r>
          </a:p>
        </p:txBody>
      </p:sp>
      <p:sp>
        <p:nvSpPr>
          <p:cNvPr id="24" name="Oval 23"/>
          <p:cNvSpPr/>
          <p:nvPr/>
        </p:nvSpPr>
        <p:spPr>
          <a:xfrm>
            <a:off x="7479792" y="2029968"/>
            <a:ext cx="274320" cy="274320"/>
          </a:xfrm>
          <a:prstGeom prst="ellipse">
            <a:avLst/>
          </a:prstGeom>
          <a:solidFill>
            <a:srgbClr val="2F6BFF"/>
          </a:solidFill>
          <a:ln w="635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9792" y="2071116"/>
            <a:ext cx="27432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72983" y="2011680"/>
            <a:ext cx="37673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72033"/>
                </a:solidFill>
                <a:latin typeface="Microsoft YaHei"/>
              </a:rPr>
              <a:t>行业收入增长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72983" y="2221992"/>
            <a:ext cx="37673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566176"/>
                </a:solidFill>
                <a:latin typeface="Microsoft YaHei"/>
              </a:rPr>
              <a:t>四大行业双轮驱动，达成BP目标XX亿元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72983" y="2496312"/>
            <a:ext cx="3767328" cy="7315"/>
          </a:xfrm>
          <a:prstGeom prst="rect">
            <a:avLst/>
          </a:prstGeom>
          <a:solidFill>
            <a:srgbClr val="DDE2EA"/>
          </a:solidFill>
          <a:ln w="127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79792" y="2578608"/>
            <a:ext cx="274320" cy="274320"/>
          </a:xfrm>
          <a:prstGeom prst="ellipse">
            <a:avLst/>
          </a:prstGeom>
          <a:solidFill>
            <a:srgbClr val="0C8F7A"/>
          </a:solidFill>
          <a:ln w="6350">
            <a:solidFill>
              <a:srgbClr val="0C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9792" y="2619756"/>
            <a:ext cx="27432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2983" y="2560320"/>
            <a:ext cx="37673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72033"/>
                </a:solidFill>
                <a:latin typeface="Microsoft YaHei"/>
              </a:rPr>
              <a:t>资源位商业价值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72983" y="2770632"/>
            <a:ext cx="37673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566176"/>
                </a:solidFill>
                <a:latin typeface="Microsoft YaHei"/>
              </a:rPr>
              <a:t>整体广告收入+XX%，CTR/DAU+XX%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72983" y="3044952"/>
            <a:ext cx="3767328" cy="7315"/>
          </a:xfrm>
          <a:prstGeom prst="rect">
            <a:avLst/>
          </a:prstGeom>
          <a:solidFill>
            <a:srgbClr val="DDE2EA"/>
          </a:solidFill>
          <a:ln w="127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479792" y="3127248"/>
            <a:ext cx="274320" cy="274320"/>
          </a:xfrm>
          <a:prstGeom prst="ellipse">
            <a:avLst/>
          </a:prstGeom>
          <a:solidFill>
            <a:srgbClr val="D98200"/>
          </a:solidFill>
          <a:ln w="635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9792" y="3168396"/>
            <a:ext cx="27432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72983" y="3108960"/>
            <a:ext cx="37673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72033"/>
                </a:solidFill>
                <a:latin typeface="Microsoft YaHei"/>
              </a:rPr>
              <a:t>算法能力突破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72983" y="3319272"/>
            <a:ext cx="37673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566176"/>
                </a:solidFill>
                <a:latin typeface="Microsoft YaHei"/>
              </a:rPr>
              <a:t>全域覆盖；小时→分钟；归因可解释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72983" y="3593591"/>
            <a:ext cx="3767328" cy="7315"/>
          </a:xfrm>
          <a:prstGeom prst="rect">
            <a:avLst/>
          </a:prstGeom>
          <a:solidFill>
            <a:srgbClr val="DDE2EA"/>
          </a:solidFill>
          <a:ln w="127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479792" y="3675887"/>
            <a:ext cx="274320" cy="274320"/>
          </a:xfrm>
          <a:prstGeom prst="ellipse">
            <a:avLst/>
          </a:prstGeom>
          <a:solidFill>
            <a:srgbClr val="C7000B"/>
          </a:solidFill>
          <a:ln w="635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79792" y="3717036"/>
            <a:ext cx="27432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72983" y="3657600"/>
            <a:ext cx="37673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72033"/>
                </a:solidFill>
                <a:latin typeface="Microsoft YaHei"/>
              </a:rPr>
              <a:t>Agent效率变革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72983" y="3867912"/>
            <a:ext cx="37673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566176"/>
                </a:solidFill>
                <a:latin typeface="Microsoft YaHei"/>
              </a:rPr>
              <a:t>准确率90%；分析+50%；开发+20%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72983" y="4142232"/>
            <a:ext cx="3767328" cy="7315"/>
          </a:xfrm>
          <a:prstGeom prst="rect">
            <a:avLst/>
          </a:prstGeom>
          <a:solidFill>
            <a:srgbClr val="DDE2EA"/>
          </a:solidFill>
          <a:ln w="127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79792" y="4224527"/>
            <a:ext cx="274320" cy="274320"/>
          </a:xfrm>
          <a:prstGeom prst="ellipse">
            <a:avLst/>
          </a:prstGeom>
          <a:solidFill>
            <a:srgbClr val="16233D"/>
          </a:solidFill>
          <a:ln w="6350">
            <a:solidFill>
              <a:srgbClr val="16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79792" y="4265676"/>
            <a:ext cx="27432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72983" y="4206240"/>
            <a:ext cx="37673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72033"/>
                </a:solidFill>
                <a:latin typeface="Microsoft YaHei"/>
              </a:rPr>
              <a:t>方法论沉淀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72983" y="4416552"/>
            <a:ext cx="37673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566176"/>
                </a:solidFill>
                <a:latin typeface="Microsoft YaHei"/>
              </a:rPr>
              <a:t>4大行业场景库、黄金指标与洞察报告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72983" y="4690872"/>
            <a:ext cx="3767328" cy="7315"/>
          </a:xfrm>
          <a:prstGeom prst="rect">
            <a:avLst/>
          </a:prstGeom>
          <a:solidFill>
            <a:srgbClr val="DDE2EA"/>
          </a:solidFill>
          <a:ln w="127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12064" y="5138928"/>
            <a:ext cx="20574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" y="5230368"/>
            <a:ext cx="1837943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C7000B"/>
                </a:solidFill>
                <a:latin typeface="Microsoft YaHei"/>
              </a:rPr>
              <a:t>XX亿元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5216" y="5532120"/>
            <a:ext cx="191109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66176"/>
                </a:solidFill>
                <a:latin typeface="Microsoft YaHei"/>
              </a:rPr>
              <a:t>27年BP目标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61488" y="5138928"/>
            <a:ext cx="20574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71216" y="5230368"/>
            <a:ext cx="1837943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F6BFF"/>
                </a:solidFill>
                <a:latin typeface="Microsoft YaHei"/>
              </a:rPr>
              <a:t>+XX%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34640" y="5532120"/>
            <a:ext cx="191109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66176"/>
                </a:solidFill>
                <a:latin typeface="Microsoft YaHei"/>
              </a:rPr>
              <a:t>整体广告收入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10912" y="5138928"/>
            <a:ext cx="20574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0" y="5230368"/>
            <a:ext cx="1837943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C8F7A"/>
                </a:solidFill>
                <a:latin typeface="Microsoft YaHei"/>
              </a:rPr>
              <a:t>+XX%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84064" y="5532120"/>
            <a:ext cx="191109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66176"/>
                </a:solidFill>
                <a:latin typeface="Microsoft YaHei"/>
              </a:rPr>
              <a:t>CTR / DAU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60336" y="5138928"/>
            <a:ext cx="20574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70064" y="5230368"/>
            <a:ext cx="1837943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D98200"/>
                </a:solidFill>
                <a:latin typeface="Microsoft YaHei"/>
              </a:rPr>
              <a:t>90%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33488" y="5532120"/>
            <a:ext cx="191109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66176"/>
                </a:solidFill>
                <a:latin typeface="Microsoft YaHei"/>
              </a:rPr>
              <a:t>Agent输出准确率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09760" y="5138928"/>
            <a:ext cx="20574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19488" y="5230368"/>
            <a:ext cx="1837943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138A52"/>
                </a:solidFill>
                <a:latin typeface="Microsoft YaHei"/>
              </a:rPr>
              <a:t>-50%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82912" y="5532120"/>
            <a:ext cx="191109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66176"/>
                </a:solidFill>
                <a:latin typeface="Microsoft YaHei"/>
              </a:rPr>
              <a:t>数据质量问题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0352" y="5998464"/>
            <a:ext cx="109728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66176"/>
                </a:solidFill>
                <a:latin typeface="Microsoft YaHei"/>
              </a:rPr>
              <a:t>汇报主线：不是14项工作的平铺，而是“行业增长、资源位增长、算法突破、Agent提效”四个可度量结果。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6519672"/>
            <a:ext cx="11173968" cy="9144"/>
          </a:xfrm>
          <a:prstGeom prst="rect">
            <a:avLst/>
          </a:prstGeom>
          <a:solidFill>
            <a:srgbClr val="DDE2EA"/>
          </a:solidFill>
          <a:ln w="127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2064" y="6565392"/>
            <a:ext cx="87782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8992A3"/>
                </a:solidFill>
                <a:latin typeface="Microsoft YaHei"/>
              </a:rPr>
              <a:t>注：XX为待BP评审锁定项；其余基线来自当前规划输入。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21240" y="6565392"/>
            <a:ext cx="1737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8992A3"/>
                </a:solidFill>
                <a:latin typeface="Microsoft YaHei"/>
              </a:rPr>
              <a:t>数据中台 ·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8992A3"/>
                </a:solidFill>
                <a:latin typeface="Microsoft YaHei"/>
              </a:rPr>
              <a:t>2027 数据中台重点工作规划  |  研讨稿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210312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8992A3"/>
                </a:solidFill>
                <a:latin typeface="Microsoft YaHei"/>
              </a:rPr>
              <a:t>02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57784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72033"/>
                </a:solidFill>
                <a:latin typeface="Microsoft YaHei"/>
              </a:rPr>
              <a:t>增长引擎：行业深耕 × 资源位精细化分发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66176"/>
                </a:solidFill>
                <a:latin typeface="Microsoft YaHei"/>
              </a:rPr>
              <a:t>行业侧做深人群与场景，资源位侧做精流量与分发；以场景库、黄金指标和增量归因为共同底座。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435608"/>
            <a:ext cx="749808" cy="32004"/>
          </a:xfrm>
          <a:prstGeom prst="rect">
            <a:avLst/>
          </a:prstGeom>
          <a:solidFill>
            <a:srgbClr val="C7000B"/>
          </a:solidFill>
          <a:ln w="12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664208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四大行业纵深运营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993392"/>
            <a:ext cx="3200400" cy="1435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1993392"/>
            <a:ext cx="50292" cy="1435608"/>
          </a:xfrm>
          <a:prstGeom prst="rect">
            <a:avLst/>
          </a:prstGeom>
          <a:solidFill>
            <a:srgbClr val="2F6BFF"/>
          </a:solidFill>
          <a:ln w="127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121408"/>
            <a:ext cx="287121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泛娱乐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423160"/>
            <a:ext cx="288950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69" b="1">
                <a:solidFill>
                  <a:srgbClr val="2F6BFF"/>
                </a:solidFill>
                <a:latin typeface="Microsoft YaHei"/>
              </a:rPr>
              <a:t>基线  </a:t>
            </a:r>
            <a:r>
              <a:rPr sz="869" b="0">
                <a:solidFill>
                  <a:srgbClr val="566176"/>
                </a:solidFill>
                <a:latin typeface="Microsoft YaHei"/>
              </a:rPr>
              <a:t>小红书CTR 0.95%/0.42%；收入2.5~2.6万/日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752344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69" b="1">
                <a:solidFill>
                  <a:srgbClr val="172033"/>
                </a:solidFill>
                <a:latin typeface="Microsoft YaHei"/>
              </a:rPr>
              <a:t>抓手  </a:t>
            </a:r>
            <a:r>
              <a:rPr sz="869" b="0">
                <a:solidFill>
                  <a:srgbClr val="566176"/>
                </a:solidFill>
                <a:latin typeface="Microsoft YaHei"/>
              </a:rPr>
              <a:t>人群分层、兴趣标签优化、CPC商业化、增量实验与归因校准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3072384"/>
            <a:ext cx="2871216" cy="219456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104388"/>
            <a:ext cx="279806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1">
                <a:solidFill>
                  <a:srgbClr val="2F6BFF"/>
                </a:solidFill>
                <a:latin typeface="Microsoft YaHei"/>
              </a:rPr>
              <a:t>BP XX万｜CTR +XX%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8768" y="1993392"/>
            <a:ext cx="3200400" cy="1435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58768" y="1993392"/>
            <a:ext cx="50292" cy="1435608"/>
          </a:xfrm>
          <a:prstGeom prst="rect">
            <a:avLst/>
          </a:prstGeom>
          <a:solidFill>
            <a:srgbClr val="C7000B"/>
          </a:solidFill>
          <a:ln w="12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59" y="2121408"/>
            <a:ext cx="287121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金融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59" y="2423160"/>
            <a:ext cx="288950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69" b="1">
                <a:solidFill>
                  <a:srgbClr val="C7000B"/>
                </a:solidFill>
                <a:latin typeface="Microsoft YaHei"/>
              </a:rPr>
              <a:t>基线  </a:t>
            </a:r>
            <a:r>
              <a:rPr sz="869" b="0">
                <a:solidFill>
                  <a:srgbClr val="566176"/>
                </a:solidFill>
                <a:latin typeface="Microsoft YaHei"/>
              </a:rPr>
              <a:t>借钱180万/月；保险200万/月、400单/日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59" y="2752344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69" b="1">
                <a:solidFill>
                  <a:srgbClr val="172033"/>
                </a:solidFill>
                <a:latin typeface="Microsoft YaHei"/>
              </a:rPr>
              <a:t>抓手  </a:t>
            </a:r>
            <a:r>
              <a:rPr sz="869" b="0">
                <a:solidFill>
                  <a:srgbClr val="566176"/>
                </a:solidFill>
                <a:latin typeface="Microsoft YaHei"/>
              </a:rPr>
              <a:t>险种意向、借钱质量、开户意向；DA问数到策略闭环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59" y="3072384"/>
            <a:ext cx="2871216" cy="219456"/>
          </a:xfrm>
          <a:prstGeom prst="roundRect">
            <a:avLst/>
          </a:prstGeom>
          <a:solidFill>
            <a:srgbClr val="FBEAEC"/>
          </a:solidFill>
          <a:ln w="10160">
            <a:solidFill>
              <a:srgbClr val="FB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59935" y="3104388"/>
            <a:ext cx="279806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1">
                <a:solidFill>
                  <a:srgbClr val="C7000B"/>
                </a:solidFill>
                <a:latin typeface="Microsoft YaHei"/>
              </a:rPr>
              <a:t>借钱2.X亿｜保险XX亿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" y="3575304"/>
            <a:ext cx="3200400" cy="1435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" y="3575304"/>
            <a:ext cx="50292" cy="1435608"/>
          </a:xfrm>
          <a:prstGeom prst="rect">
            <a:avLst/>
          </a:prstGeom>
          <a:solidFill>
            <a:srgbClr val="0C8F7A"/>
          </a:solidFill>
          <a:ln w="1270">
            <a:solidFill>
              <a:srgbClr val="0C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703320"/>
            <a:ext cx="287121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本地生活 / 电商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005072"/>
            <a:ext cx="288950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69" b="1">
                <a:solidFill>
                  <a:srgbClr val="0C8F7A"/>
                </a:solidFill>
                <a:latin typeface="Microsoft YaHei"/>
              </a:rPr>
              <a:t>基线  </a:t>
            </a:r>
            <a:r>
              <a:rPr sz="869" b="0">
                <a:solidFill>
                  <a:srgbClr val="566176"/>
                </a:solidFill>
                <a:latin typeface="Microsoft YaHei"/>
              </a:rPr>
              <a:t>美团、瑞幸、同程、猫眼、京东等元服务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334256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69" b="1">
                <a:solidFill>
                  <a:srgbClr val="172033"/>
                </a:solidFill>
                <a:latin typeface="Microsoft YaHei"/>
              </a:rPr>
              <a:t>抓手  </a:t>
            </a:r>
            <a:r>
              <a:rPr sz="869" b="0">
                <a:solidFill>
                  <a:srgbClr val="566176"/>
                </a:solidFill>
                <a:latin typeface="Microsoft YaHei"/>
              </a:rPr>
              <a:t>行业兴趣标签优化；商家券Uplift分析提升分发效率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" y="4654296"/>
            <a:ext cx="2871216" cy="219456"/>
          </a:xfrm>
          <a:prstGeom prst="roundRect">
            <a:avLst/>
          </a:prstGeom>
          <a:solidFill>
            <a:srgbClr val="E6F5F2"/>
          </a:solidFill>
          <a:ln w="10160">
            <a:solidFill>
              <a:srgbClr val="E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686300"/>
            <a:ext cx="279806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1">
                <a:solidFill>
                  <a:srgbClr val="0C8F7A"/>
                </a:solidFill>
                <a:latin typeface="Microsoft YaHei"/>
              </a:rPr>
              <a:t>订单XX万｜核销率/ROI达标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58768" y="3575304"/>
            <a:ext cx="3200400" cy="1435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58768" y="3575304"/>
            <a:ext cx="50292" cy="1435608"/>
          </a:xfrm>
          <a:prstGeom prst="rect">
            <a:avLst/>
          </a:prstGeom>
          <a:solidFill>
            <a:srgbClr val="D98200"/>
          </a:solidFill>
          <a:ln w="127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59" y="3703320"/>
            <a:ext cx="287121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游戏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59" y="4005072"/>
            <a:ext cx="288950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69" b="1">
                <a:solidFill>
                  <a:srgbClr val="D98200"/>
                </a:solidFill>
                <a:latin typeface="Microsoft YaHei"/>
              </a:rPr>
              <a:t>基线  </a:t>
            </a:r>
            <a:r>
              <a:rPr sz="869" b="0">
                <a:solidFill>
                  <a:srgbClr val="566176"/>
                </a:solidFill>
                <a:latin typeface="Microsoft YaHei"/>
              </a:rPr>
              <a:t>26年收入5000万+；阵地库存300万/日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59" y="4334256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69" b="1">
                <a:solidFill>
                  <a:srgbClr val="172033"/>
                </a:solidFill>
                <a:latin typeface="Microsoft YaHei"/>
              </a:rPr>
              <a:t>抓手  </a:t>
            </a:r>
            <a:r>
              <a:rPr sz="869" b="0">
                <a:solidFill>
                  <a:srgbClr val="566176"/>
                </a:solidFill>
                <a:latin typeface="Microsoft YaHei"/>
              </a:rPr>
              <a:t>模型/场景召回、人群资产、DataAgent例行输出优化点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59" y="4654296"/>
            <a:ext cx="2871216" cy="219456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59935" y="4686300"/>
            <a:ext cx="279806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9" b="1">
                <a:solidFill>
                  <a:srgbClr val="D98200"/>
                </a:solidFill>
                <a:latin typeface="Microsoft YaHei"/>
              </a:rPr>
              <a:t>收入X亿｜库存400万/日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1664208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五类资源位价值提升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60920" y="1993392"/>
            <a:ext cx="4297680" cy="3017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534656" y="2203703"/>
            <a:ext cx="219456" cy="219456"/>
          </a:xfrm>
          <a:prstGeom prst="ellipse">
            <a:avLst/>
          </a:prstGeom>
          <a:solidFill>
            <a:srgbClr val="16233D"/>
          </a:solidFill>
          <a:ln w="6350">
            <a:solidFill>
              <a:srgbClr val="16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34656" y="2238451"/>
            <a:ext cx="219456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2194560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2033"/>
                </a:solidFill>
                <a:latin typeface="Microsoft YaHei"/>
              </a:rPr>
              <a:t>探索流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58784" y="2194560"/>
            <a:ext cx="288950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566176"/>
                </a:solidFill>
                <a:latin typeface="Microsoft YaHei"/>
              </a:rPr>
              <a:t>槽位优化；自然流量与广告混排，提升收入并吸引预算。</a:t>
            </a:r>
          </a:p>
        </p:txBody>
      </p:sp>
      <p:sp>
        <p:nvSpPr>
          <p:cNvPr id="42" name="Oval 41"/>
          <p:cNvSpPr/>
          <p:nvPr/>
        </p:nvSpPr>
        <p:spPr>
          <a:xfrm>
            <a:off x="7534656" y="2706624"/>
            <a:ext cx="219456" cy="219456"/>
          </a:xfrm>
          <a:prstGeom prst="ellipse">
            <a:avLst/>
          </a:prstGeom>
          <a:solidFill>
            <a:srgbClr val="16233D"/>
          </a:solidFill>
          <a:ln w="6350">
            <a:solidFill>
              <a:srgbClr val="16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34656" y="2741371"/>
            <a:ext cx="219456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45552" y="2697480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2033"/>
                </a:solidFill>
                <a:latin typeface="Microsoft YaHei"/>
              </a:rPr>
              <a:t>四饼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58784" y="2697480"/>
            <a:ext cx="288950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566176"/>
                </a:solidFill>
                <a:latin typeface="Microsoft YaHei"/>
              </a:rPr>
              <a:t>掺量优化；保序回归校准pCTR；减少无效曝光。</a:t>
            </a:r>
          </a:p>
        </p:txBody>
      </p:sp>
      <p:sp>
        <p:nvSpPr>
          <p:cNvPr id="46" name="Oval 45"/>
          <p:cNvSpPr/>
          <p:nvPr/>
        </p:nvSpPr>
        <p:spPr>
          <a:xfrm>
            <a:off x="7534656" y="3209544"/>
            <a:ext cx="219456" cy="219456"/>
          </a:xfrm>
          <a:prstGeom prst="ellipse">
            <a:avLst/>
          </a:prstGeom>
          <a:solidFill>
            <a:srgbClr val="16233D"/>
          </a:solidFill>
          <a:ln w="6350">
            <a:solidFill>
              <a:srgbClr val="16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34656" y="3244291"/>
            <a:ext cx="219456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45552" y="3200400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2033"/>
                </a:solidFill>
                <a:latin typeface="Microsoft YaHei"/>
              </a:rPr>
              <a:t>暗纹词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58784" y="3200400"/>
            <a:ext cx="288950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566176"/>
                </a:solidFill>
                <a:latin typeface="Microsoft YaHei"/>
              </a:rPr>
              <a:t>生成与推荐提升搜前/搜后CTR；打通竞价与合约。</a:t>
            </a:r>
          </a:p>
        </p:txBody>
      </p:sp>
      <p:sp>
        <p:nvSpPr>
          <p:cNvPr id="50" name="Oval 49"/>
          <p:cNvSpPr/>
          <p:nvPr/>
        </p:nvSpPr>
        <p:spPr>
          <a:xfrm>
            <a:off x="7534656" y="3712463"/>
            <a:ext cx="219456" cy="219456"/>
          </a:xfrm>
          <a:prstGeom prst="ellipse">
            <a:avLst/>
          </a:prstGeom>
          <a:solidFill>
            <a:srgbClr val="16233D"/>
          </a:solidFill>
          <a:ln w="6350">
            <a:solidFill>
              <a:srgbClr val="16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34656" y="3747211"/>
            <a:ext cx="219456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45552" y="3703320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2033"/>
                </a:solidFill>
                <a:latin typeface="Microsoft YaHei"/>
              </a:rPr>
              <a:t>橱窗卡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58784" y="3703320"/>
            <a:ext cx="288950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566176"/>
                </a:solidFill>
                <a:latin typeface="Microsoft YaHei"/>
              </a:rPr>
              <a:t>时间/地点/行为场景化推荐，扩大广告主覆盖。</a:t>
            </a:r>
          </a:p>
        </p:txBody>
      </p:sp>
      <p:sp>
        <p:nvSpPr>
          <p:cNvPr id="54" name="Oval 53"/>
          <p:cNvSpPr/>
          <p:nvPr/>
        </p:nvSpPr>
        <p:spPr>
          <a:xfrm>
            <a:off x="7534656" y="4215383"/>
            <a:ext cx="219456" cy="219456"/>
          </a:xfrm>
          <a:prstGeom prst="ellipse">
            <a:avLst/>
          </a:prstGeom>
          <a:solidFill>
            <a:srgbClr val="16233D"/>
          </a:solidFill>
          <a:ln w="6350">
            <a:solidFill>
              <a:srgbClr val="16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34656" y="4250131"/>
            <a:ext cx="219456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45552" y="4206240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2033"/>
                </a:solidFill>
                <a:latin typeface="Microsoft YaHei"/>
              </a:rPr>
              <a:t>搜索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58784" y="4206240"/>
            <a:ext cx="288950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40" b="0">
                <a:solidFill>
                  <a:srgbClr val="566176"/>
                </a:solidFill>
                <a:latin typeface="Microsoft YaHei"/>
              </a:rPr>
              <a:t>相关性排序 + 商业意图识别，商业结果自然融入。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34656" y="4617720"/>
            <a:ext cx="3913632" cy="246888"/>
          </a:xfrm>
          <a:prstGeom prst="roundRect">
            <a:avLst/>
          </a:prstGeom>
          <a:solidFill>
            <a:srgbClr val="FBEAEC"/>
          </a:solidFill>
          <a:ln w="10160">
            <a:solidFill>
              <a:srgbClr val="FB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89520" y="4658868"/>
            <a:ext cx="3803904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C7000B"/>
                </a:solidFill>
                <a:latin typeface="Microsoft YaHei"/>
              </a:rPr>
              <a:t>目标：整体广告收入 +XX%｜CTR / DAU +XX%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2064" y="525780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共同能力底座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21408" y="5166360"/>
            <a:ext cx="2157984" cy="758952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31136" y="5303520"/>
            <a:ext cx="19385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行业场景库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12848" y="5596128"/>
            <a:ext cx="1975104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566176"/>
                </a:solidFill>
                <a:latin typeface="Microsoft YaHei"/>
              </a:rPr>
              <a:t>补齐关键行业场景数据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480560" y="5166360"/>
            <a:ext cx="2157984" cy="758952"/>
          </a:xfrm>
          <a:prstGeom prst="roundRect">
            <a:avLst/>
          </a:prstGeom>
          <a:solidFill>
            <a:srgbClr val="E6F5F2"/>
          </a:solidFill>
          <a:ln w="10160">
            <a:solidFill>
              <a:srgbClr val="E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90288" y="5303520"/>
            <a:ext cx="19385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C8F7A"/>
                </a:solidFill>
                <a:latin typeface="Microsoft YaHei"/>
              </a:rPr>
              <a:t>实时意图标签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5596128"/>
            <a:ext cx="1975104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566176"/>
                </a:solidFill>
                <a:latin typeface="Microsoft YaHei"/>
              </a:rPr>
              <a:t>提升识别准确性与召回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839712" y="5166360"/>
            <a:ext cx="2157984" cy="758952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49440" y="5303520"/>
            <a:ext cx="19385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D98200"/>
                </a:solidFill>
                <a:latin typeface="Microsoft YaHei"/>
              </a:rPr>
              <a:t>黄金指标体系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31152" y="5596128"/>
            <a:ext cx="1975104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566176"/>
                </a:solidFill>
                <a:latin typeface="Microsoft YaHei"/>
              </a:rPr>
              <a:t>形成行业作战地图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198864" y="5166360"/>
            <a:ext cx="2157984" cy="758952"/>
          </a:xfrm>
          <a:prstGeom prst="roundRect">
            <a:avLst/>
          </a:prstGeom>
          <a:solidFill>
            <a:srgbClr val="FBEAEC"/>
          </a:solidFill>
          <a:ln w="10160">
            <a:solidFill>
              <a:srgbClr val="FB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08592" y="5303520"/>
            <a:ext cx="19385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增量实验与归因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90304" y="5596128"/>
            <a:ext cx="1975104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566176"/>
                </a:solidFill>
                <a:latin typeface="Microsoft YaHei"/>
              </a:rPr>
              <a:t>校准真实业务价值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52" y="614476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66176"/>
                </a:solidFill>
                <a:latin typeface="Microsoft YaHei"/>
              </a:rPr>
              <a:t>行业提供可变现的人群、场景和预算；资源位提供规模化触达；两者通过增量实验与归因形成收入闭环。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6519672"/>
            <a:ext cx="11173968" cy="9144"/>
          </a:xfrm>
          <a:prstGeom prst="rect">
            <a:avLst/>
          </a:prstGeom>
          <a:solidFill>
            <a:srgbClr val="DDE2EA"/>
          </a:solidFill>
          <a:ln w="127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2064" y="6565392"/>
            <a:ext cx="87782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8992A3"/>
                </a:solidFill>
                <a:latin typeface="Microsoft YaHei"/>
              </a:rPr>
              <a:t>注：XX为待BP评审锁定项；其余基线来自当前规划输入。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21240" y="6565392"/>
            <a:ext cx="1737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8992A3"/>
                </a:solidFill>
                <a:latin typeface="Microsoft YaHei"/>
              </a:rPr>
              <a:t>数据中台 · 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8992A3"/>
                </a:solidFill>
                <a:latin typeface="Microsoft YaHei"/>
              </a:rPr>
              <a:t>2027 数据中台重点工作规划  |  研讨稿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210312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8992A3"/>
                </a:solidFill>
                <a:latin typeface="Microsoft YaHei"/>
              </a:rPr>
              <a:t>03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57784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72033"/>
                </a:solidFill>
                <a:latin typeface="Microsoft YaHei"/>
              </a:rPr>
              <a:t>一套全域推荐基座，覆盖全部资源位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66176"/>
                </a:solidFill>
                <a:latin typeface="Microsoft YaHei"/>
              </a:rPr>
              <a:t>以生成式推荐和跨域模型为技术主线，统一用户兴趣、场景识别与物料生命周期，实现效果、效率和可信度同步提升。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435608"/>
            <a:ext cx="749808" cy="32004"/>
          </a:xfrm>
          <a:prstGeom prst="rect">
            <a:avLst/>
          </a:prstGeom>
          <a:solidFill>
            <a:srgbClr val="C7000B"/>
          </a:solidFill>
          <a:ln w="12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66420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端到端能力链路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011680"/>
            <a:ext cx="1993392" cy="1060704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0936" y="2121408"/>
            <a:ext cx="256032" cy="256032"/>
          </a:xfrm>
          <a:prstGeom prst="ellipse">
            <a:avLst/>
          </a:prstGeom>
          <a:solidFill>
            <a:srgbClr val="2F6BFF"/>
          </a:solidFill>
          <a:ln w="635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158898"/>
            <a:ext cx="256032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450592"/>
            <a:ext cx="175564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72033"/>
                </a:solidFill>
                <a:latin typeface="Microsoft YaHei"/>
              </a:rPr>
              <a:t>全域信号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706624"/>
            <a:ext cx="1755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" b="0">
                <a:solidFill>
                  <a:srgbClr val="566176"/>
                </a:solidFill>
                <a:latin typeface="Microsoft YaHei"/>
              </a:rPr>
              <a:t>搜索、服务、资讯、应用使用与正负反馈</a:t>
            </a:r>
          </a:p>
        </p:txBody>
      </p:sp>
      <p:sp>
        <p:nvSpPr>
          <p:cNvPr id="13" name="Chevron 12"/>
          <p:cNvSpPr/>
          <p:nvPr/>
        </p:nvSpPr>
        <p:spPr>
          <a:xfrm>
            <a:off x="2560320" y="2414016"/>
            <a:ext cx="201168" cy="256032"/>
          </a:xfrm>
          <a:prstGeom prst="chevron">
            <a:avLst/>
          </a:prstGeom>
          <a:solidFill>
            <a:srgbClr val="8992A3"/>
          </a:solidFill>
          <a:ln w="1270">
            <a:solidFill>
              <a:srgbClr val="89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011680"/>
            <a:ext cx="1993392" cy="1060704"/>
          </a:xfrm>
          <a:prstGeom prst="roundRect">
            <a:avLst/>
          </a:prstGeom>
          <a:solidFill>
            <a:srgbClr val="E6F5F2"/>
          </a:solidFill>
          <a:ln w="10160">
            <a:solidFill>
              <a:srgbClr val="E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26079" y="2121408"/>
            <a:ext cx="256032" cy="256032"/>
          </a:xfrm>
          <a:prstGeom prst="ellipse">
            <a:avLst/>
          </a:prstGeom>
          <a:solidFill>
            <a:srgbClr val="0C8F7A"/>
          </a:solidFill>
          <a:ln w="6350">
            <a:solidFill>
              <a:srgbClr val="0C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79" y="2158898"/>
            <a:ext cx="256032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79" y="2450592"/>
            <a:ext cx="175564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72033"/>
                </a:solidFill>
                <a:latin typeface="Microsoft YaHei"/>
              </a:rPr>
              <a:t>统一画像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79" y="2706624"/>
            <a:ext cx="1755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" b="0">
                <a:solidFill>
                  <a:srgbClr val="566176"/>
                </a:solidFill>
                <a:latin typeface="Microsoft YaHei"/>
              </a:rPr>
              <a:t>长期兴趣 + 实时意图 + 场景识别</a:t>
            </a:r>
          </a:p>
        </p:txBody>
      </p:sp>
      <p:sp>
        <p:nvSpPr>
          <p:cNvPr id="19" name="Chevron 18"/>
          <p:cNvSpPr/>
          <p:nvPr/>
        </p:nvSpPr>
        <p:spPr>
          <a:xfrm>
            <a:off x="4855464" y="2414016"/>
            <a:ext cx="201168" cy="256032"/>
          </a:xfrm>
          <a:prstGeom prst="chevron">
            <a:avLst/>
          </a:prstGeom>
          <a:solidFill>
            <a:srgbClr val="8992A3"/>
          </a:solidFill>
          <a:ln w="1270">
            <a:solidFill>
              <a:srgbClr val="89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02352" y="2011680"/>
            <a:ext cx="1993392" cy="1060704"/>
          </a:xfrm>
          <a:prstGeom prst="roundRect">
            <a:avLst/>
          </a:prstGeom>
          <a:solidFill>
            <a:srgbClr val="FBEAEC"/>
          </a:solidFill>
          <a:ln w="10160">
            <a:solidFill>
              <a:srgbClr val="FB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21224" y="2121408"/>
            <a:ext cx="256032" cy="256032"/>
          </a:xfrm>
          <a:prstGeom prst="ellipse">
            <a:avLst/>
          </a:prstGeom>
          <a:solidFill>
            <a:srgbClr val="C7000B"/>
          </a:solidFill>
          <a:ln w="635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1224" y="2158898"/>
            <a:ext cx="256032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2450592"/>
            <a:ext cx="175564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72033"/>
                </a:solidFill>
                <a:latin typeface="Microsoft YaHei"/>
              </a:rPr>
              <a:t>统一模型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1224" y="2706624"/>
            <a:ext cx="1755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" b="0">
                <a:solidFill>
                  <a:srgbClr val="566176"/>
                </a:solidFill>
                <a:latin typeface="Microsoft YaHei"/>
              </a:rPr>
              <a:t>生成式推荐 + 跨域建模 + 公共基座</a:t>
            </a:r>
          </a:p>
        </p:txBody>
      </p:sp>
      <p:sp>
        <p:nvSpPr>
          <p:cNvPr id="25" name="Chevron 24"/>
          <p:cNvSpPr/>
          <p:nvPr/>
        </p:nvSpPr>
        <p:spPr>
          <a:xfrm>
            <a:off x="7150608" y="2414016"/>
            <a:ext cx="201168" cy="256032"/>
          </a:xfrm>
          <a:prstGeom prst="chevron">
            <a:avLst/>
          </a:prstGeom>
          <a:solidFill>
            <a:srgbClr val="8992A3"/>
          </a:solidFill>
          <a:ln w="1270">
            <a:solidFill>
              <a:srgbClr val="89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97496" y="2011680"/>
            <a:ext cx="1993392" cy="1060704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16368" y="2121408"/>
            <a:ext cx="256032" cy="256032"/>
          </a:xfrm>
          <a:prstGeom prst="ellipse">
            <a:avLst/>
          </a:prstGeom>
          <a:solidFill>
            <a:srgbClr val="D98200"/>
          </a:solidFill>
          <a:ln w="635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368" y="2158898"/>
            <a:ext cx="256032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2450592"/>
            <a:ext cx="175564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72033"/>
                </a:solidFill>
                <a:latin typeface="Microsoft YaHei"/>
              </a:rPr>
              <a:t>智能分发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2706624"/>
            <a:ext cx="1755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" b="0">
                <a:solidFill>
                  <a:srgbClr val="566176"/>
                </a:solidFill>
                <a:latin typeface="Microsoft YaHei"/>
              </a:rPr>
              <a:t>召回、排序、混排与物料生命周期</a:t>
            </a:r>
          </a:p>
        </p:txBody>
      </p:sp>
      <p:sp>
        <p:nvSpPr>
          <p:cNvPr id="31" name="Chevron 30"/>
          <p:cNvSpPr/>
          <p:nvPr/>
        </p:nvSpPr>
        <p:spPr>
          <a:xfrm>
            <a:off x="9445752" y="2414016"/>
            <a:ext cx="201168" cy="256032"/>
          </a:xfrm>
          <a:prstGeom prst="chevron">
            <a:avLst/>
          </a:prstGeom>
          <a:solidFill>
            <a:srgbClr val="8992A3"/>
          </a:solidFill>
          <a:ln w="1270">
            <a:solidFill>
              <a:srgbClr val="89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92640" y="2011680"/>
            <a:ext cx="1993392" cy="1060704"/>
          </a:xfrm>
          <a:prstGeom prst="roundRect">
            <a:avLst/>
          </a:prstGeom>
          <a:solidFill>
            <a:srgbClr val="EEF1F5"/>
          </a:solidFill>
          <a:ln w="1016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11512" y="2121408"/>
            <a:ext cx="256032" cy="256032"/>
          </a:xfrm>
          <a:prstGeom prst="ellipse">
            <a:avLst/>
          </a:prstGeom>
          <a:solidFill>
            <a:srgbClr val="16233D"/>
          </a:solidFill>
          <a:ln w="6350">
            <a:solidFill>
              <a:srgbClr val="16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11512" y="2158898"/>
            <a:ext cx="256032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2450592"/>
            <a:ext cx="175564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72033"/>
                </a:solidFill>
                <a:latin typeface="Microsoft YaHei"/>
              </a:rPr>
              <a:t>跨资源联动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1512" y="2706624"/>
            <a:ext cx="1755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" b="0">
                <a:solidFill>
                  <a:srgbClr val="566176"/>
                </a:solidFill>
                <a:latin typeface="Microsoft YaHei"/>
              </a:rPr>
              <a:t>探索流、四饼、暗纹词、橱窗卡、搜索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331012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三项技术突破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" y="3657600"/>
            <a:ext cx="3529584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9224" y="3785615"/>
            <a:ext cx="640080" cy="219456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" y="3813048"/>
            <a:ext cx="640080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2F6BFF"/>
                </a:solidFill>
                <a:latin typeface="Microsoft YaHei"/>
              </a:rPr>
              <a:t>模型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" y="4114800"/>
            <a:ext cx="32552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强个性化与生成式推荐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443984"/>
            <a:ext cx="3255264" cy="5577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66176"/>
                </a:solidFill>
                <a:latin typeface="Microsoft YaHei"/>
              </a:rPr>
              <a:t>提高准确性与个性化；跨域共享减少重复模型；优化冷启—探索—稳定分发—下架全流程。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25112" y="3657600"/>
            <a:ext cx="3529584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462272" y="3785615"/>
            <a:ext cx="640080" cy="219456"/>
          </a:xfrm>
          <a:prstGeom prst="roundRect">
            <a:avLst/>
          </a:prstGeom>
          <a:solidFill>
            <a:srgbClr val="E6F5F2"/>
          </a:solidFill>
          <a:ln w="10160">
            <a:solidFill>
              <a:srgbClr val="E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62272" y="3813048"/>
            <a:ext cx="640080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0C8F7A"/>
                </a:solidFill>
                <a:latin typeface="Microsoft YaHei"/>
              </a:rPr>
              <a:t>工程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62272" y="4114800"/>
            <a:ext cx="32552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用户意图小时级 → 分钟级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62272" y="4443984"/>
            <a:ext cx="3255264" cy="5577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66176"/>
                </a:solidFill>
                <a:latin typeface="Microsoft YaHei"/>
              </a:rPr>
              <a:t>实时特征、场景识别、样本特征回流和端云协同；正负反馈快速生效。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3657600"/>
            <a:ext cx="3529584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275320" y="3785615"/>
            <a:ext cx="640080" cy="219456"/>
          </a:xfrm>
          <a:prstGeom prst="roundRect">
            <a:avLst/>
          </a:prstGeom>
          <a:solidFill>
            <a:srgbClr val="FBEAEC"/>
          </a:solidFill>
          <a:ln w="10160">
            <a:solidFill>
              <a:srgbClr val="FB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3813048"/>
            <a:ext cx="640080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C7000B"/>
                </a:solidFill>
                <a:latin typeface="Microsoft YaHei"/>
              </a:rPr>
              <a:t>可信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4114800"/>
            <a:ext cx="32552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全链路重放、归因与解释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4443984"/>
            <a:ext cx="3255264" cy="5577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66176"/>
                </a:solidFill>
                <a:latin typeface="Microsoft YaHei"/>
              </a:rPr>
              <a:t>快速定位大盘波动原因；解释个性化推荐结果；建立透明、可监控、可复现体系。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2064" y="5431536"/>
            <a:ext cx="11155680" cy="667512"/>
          </a:xfrm>
          <a:prstGeom prst="roundRect">
            <a:avLst/>
          </a:prstGeom>
          <a:solidFill>
            <a:srgbClr val="16233D"/>
          </a:solidFill>
          <a:ln w="10160">
            <a:solidFill>
              <a:srgbClr val="16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5596128"/>
            <a:ext cx="1005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2027衡量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47088" y="5586984"/>
            <a:ext cx="1965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全域覆盖全部资源位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77639" y="5586984"/>
            <a:ext cx="1965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用户意图分钟级响应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08192" y="5586984"/>
            <a:ext cx="1965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各资源位CTR +XX%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47888" y="5586984"/>
            <a:ext cx="2148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召回/准确率/AUC +XX%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69880" y="5586984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可追溯归因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" y="6236208"/>
            <a:ext cx="10972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66176"/>
                </a:solidFill>
                <a:latin typeface="Microsoft YaHei"/>
              </a:rPr>
              <a:t>技术升级不追求模型复杂度本身，而是用“一套基座、实时响应、可信归因”解决增长效果、维护效率和生态合作问题。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6519672"/>
            <a:ext cx="11173968" cy="9144"/>
          </a:xfrm>
          <a:prstGeom prst="rect">
            <a:avLst/>
          </a:prstGeom>
          <a:solidFill>
            <a:srgbClr val="DDE2EA"/>
          </a:solidFill>
          <a:ln w="127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2064" y="6565392"/>
            <a:ext cx="87782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8992A3"/>
                </a:solidFill>
                <a:latin typeface="Microsoft YaHei"/>
              </a:rPr>
              <a:t>注：XX为待BP评审锁定项；其余基线来自当前规划输入。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21240" y="6565392"/>
            <a:ext cx="1737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8992A3"/>
                </a:solidFill>
                <a:latin typeface="Microsoft YaHei"/>
              </a:rPr>
              <a:t>数据中台 · 2027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8992A3"/>
                </a:solidFill>
                <a:latin typeface="Microsoft YaHei"/>
              </a:rPr>
              <a:t>2027 数据中台重点工作规划  |  研讨稿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210312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8992A3"/>
                </a:solidFill>
                <a:latin typeface="Microsoft YaHei"/>
              </a:rPr>
              <a:t>04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57784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72033"/>
                </a:solidFill>
                <a:latin typeface="Microsoft YaHei"/>
              </a:rPr>
              <a:t>DataAgent贯通分析、开发与治理，形成生产力闭环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7899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66176"/>
                </a:solidFill>
                <a:latin typeface="Microsoft YaHei"/>
              </a:rPr>
              <a:t>将个人经验沉淀为可复用Workflow、Skill和统一语义模型，让数据能力从“人工交付”升级为“智能协同”。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435608"/>
            <a:ext cx="749808" cy="32004"/>
          </a:xfrm>
          <a:prstGeom prst="rect">
            <a:avLst/>
          </a:prstGeom>
          <a:solidFill>
            <a:srgbClr val="C7000B"/>
          </a:solidFill>
          <a:ln w="127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064" y="1783080"/>
            <a:ext cx="3529584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91256" y="1911095"/>
            <a:ext cx="685800" cy="228600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91256" y="1943100"/>
            <a:ext cx="685800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2F6BFF"/>
                </a:solidFill>
                <a:latin typeface="Microsoft YaHei"/>
              </a:rP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20240"/>
            <a:ext cx="2414015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分析Agent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286000"/>
            <a:ext cx="32186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问数 → 归因 → 建议 → 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587752"/>
            <a:ext cx="321868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66176"/>
                </a:solidFill>
                <a:latin typeface="Microsoft YaHei"/>
              </a:rPr>
              <a:t>资源位×行业全覆盖；指标血缘追溯、多维下钻、相似波动匹配与建议生成。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" y="3182112"/>
            <a:ext cx="3218688" cy="7315"/>
          </a:xfrm>
          <a:prstGeom prst="rect">
            <a:avLst/>
          </a:prstGeom>
          <a:solidFill>
            <a:srgbClr val="DDE2EA"/>
          </a:solidFill>
          <a:ln w="127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319272"/>
            <a:ext cx="1554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Microsoft YaHei"/>
              </a:rPr>
              <a:t>3→1.4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593591"/>
            <a:ext cx="155448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>
                <a:solidFill>
                  <a:srgbClr val="566176"/>
                </a:solidFill>
                <a:latin typeface="Microsoft YaHei"/>
              </a:rPr>
              <a:t>临时分析（人天）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319272"/>
            <a:ext cx="1554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Microsoft YaHei"/>
              </a:rPr>
              <a:t>50%+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593591"/>
            <a:ext cx="155448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>
                <a:solidFill>
                  <a:srgbClr val="566176"/>
                </a:solidFill>
                <a:latin typeface="Microsoft YaHei"/>
              </a:rPr>
              <a:t>效率提升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1783080"/>
            <a:ext cx="3529584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04304" y="1911095"/>
            <a:ext cx="685800" cy="228600"/>
          </a:xfrm>
          <a:prstGeom prst="roundRect">
            <a:avLst/>
          </a:prstGeom>
          <a:solidFill>
            <a:srgbClr val="E6F5F2"/>
          </a:solidFill>
          <a:ln w="10160">
            <a:solidFill>
              <a:srgbClr val="E6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4304" y="1943100"/>
            <a:ext cx="685800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0C8F7A"/>
                </a:solidFill>
                <a:latin typeface="Microsoft YaHei"/>
              </a:rPr>
              <a:t>+20%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920240"/>
            <a:ext cx="2414015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开发Agent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286000"/>
            <a:ext cx="32186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CodeAgent + 统一业务语义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587752"/>
            <a:ext cx="321868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66176"/>
                </a:solidFill>
                <a:latin typeface="Microsoft YaHei"/>
              </a:rPr>
              <a:t>存量数仓模型Agent化，构建全局一致、可被AI可靠理解和调用的数据模型。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182112"/>
            <a:ext cx="3218688" cy="7315"/>
          </a:xfrm>
          <a:prstGeom prst="rect">
            <a:avLst/>
          </a:prstGeom>
          <a:solidFill>
            <a:srgbClr val="DDE2EA"/>
          </a:solidFill>
          <a:ln w="127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319272"/>
            <a:ext cx="1554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C8F7A"/>
                </a:solidFill>
                <a:latin typeface="Microsoft YaHei"/>
              </a:rPr>
              <a:t>4→3.2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593591"/>
            <a:ext cx="155448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>
                <a:solidFill>
                  <a:srgbClr val="566176"/>
                </a:solidFill>
                <a:latin typeface="Microsoft YaHei"/>
              </a:rPr>
              <a:t>开发交付（人天）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3319272"/>
            <a:ext cx="1554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C8F7A"/>
                </a:solidFill>
                <a:latin typeface="Microsoft YaHei"/>
              </a:rPr>
              <a:t>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593591"/>
            <a:ext cx="155448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>
                <a:solidFill>
                  <a:srgbClr val="566176"/>
                </a:solidFill>
                <a:latin typeface="Microsoft YaHei"/>
              </a:rPr>
              <a:t>周期缩短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783080"/>
            <a:ext cx="3529584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817352" y="1911095"/>
            <a:ext cx="685800" cy="228600"/>
          </a:xfrm>
          <a:prstGeom prst="roundRect">
            <a:avLst/>
          </a:prstGeom>
          <a:solidFill>
            <a:srgbClr val="FBEAEC"/>
          </a:solidFill>
          <a:ln w="10160">
            <a:solidFill>
              <a:srgbClr val="FB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17352" y="1943100"/>
            <a:ext cx="685800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C7000B"/>
                </a:solidFill>
                <a:latin typeface="Microsoft YaHei"/>
              </a:rPr>
              <a:t>-50%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1920240"/>
            <a:ext cx="2414015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质量治理Agent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2286000"/>
            <a:ext cx="32186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源头设计 + 自动发现 + 根因定位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2587752"/>
            <a:ext cx="321868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66176"/>
                </a:solidFill>
                <a:latin typeface="Microsoft YaHei"/>
              </a:rPr>
              <a:t>打点设计Agent、质量规则库、统计/时序异常检测、自动告警与根因诊断。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93608" y="3182112"/>
            <a:ext cx="3218688" cy="7315"/>
          </a:xfrm>
          <a:prstGeom prst="rect">
            <a:avLst/>
          </a:prstGeom>
          <a:solidFill>
            <a:srgbClr val="DDE2EA"/>
          </a:solidFill>
          <a:ln w="127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93608" y="3319272"/>
            <a:ext cx="1554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C7000B"/>
                </a:solidFill>
                <a:latin typeface="Microsoft YaHei"/>
              </a:rPr>
              <a:t>&gt;85%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3593591"/>
            <a:ext cx="155448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>
                <a:solidFill>
                  <a:srgbClr val="566176"/>
                </a:solidFill>
                <a:latin typeface="Microsoft YaHei"/>
              </a:rPr>
              <a:t>异常自动识别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5" y="3319272"/>
            <a:ext cx="1554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C7000B"/>
                </a:solidFill>
                <a:latin typeface="Microsoft YaHei"/>
              </a:rPr>
              <a:t>&lt;30分钟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57815" y="3593591"/>
            <a:ext cx="155448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>
                <a:solidFill>
                  <a:srgbClr val="566176"/>
                </a:solidFill>
                <a:latin typeface="Microsoft YaHei"/>
              </a:rPr>
              <a:t>平均发现时间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4133087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能力闭环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" y="4489704"/>
            <a:ext cx="1124712" cy="502920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5216" y="4572000"/>
            <a:ext cx="22860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2F6BFF"/>
                </a:solidFill>
                <a:latin typeface="Microsoft YaHei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" y="4754880"/>
            <a:ext cx="97840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72033"/>
                </a:solidFill>
                <a:latin typeface="Microsoft YaHei"/>
              </a:rPr>
              <a:t>统一语义</a:t>
            </a:r>
          </a:p>
        </p:txBody>
      </p:sp>
      <p:sp>
        <p:nvSpPr>
          <p:cNvPr id="44" name="Chevron 43"/>
          <p:cNvSpPr/>
          <p:nvPr/>
        </p:nvSpPr>
        <p:spPr>
          <a:xfrm>
            <a:off x="1682496" y="4608576"/>
            <a:ext cx="146304" cy="256032"/>
          </a:xfrm>
          <a:prstGeom prst="chevron">
            <a:avLst/>
          </a:prstGeom>
          <a:solidFill>
            <a:srgbClr val="8992A3"/>
          </a:solidFill>
          <a:ln w="1270">
            <a:solidFill>
              <a:srgbClr val="89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874519" y="4489704"/>
            <a:ext cx="1124712" cy="502920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47672" y="4572000"/>
            <a:ext cx="22860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2F6BFF"/>
                </a:solidFill>
                <a:latin typeface="Microsoft YaHei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4754880"/>
            <a:ext cx="97840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72033"/>
                </a:solidFill>
                <a:latin typeface="Microsoft YaHei"/>
              </a:rPr>
              <a:t>Workflow</a:t>
            </a:r>
          </a:p>
        </p:txBody>
      </p:sp>
      <p:sp>
        <p:nvSpPr>
          <p:cNvPr id="48" name="Chevron 47"/>
          <p:cNvSpPr/>
          <p:nvPr/>
        </p:nvSpPr>
        <p:spPr>
          <a:xfrm>
            <a:off x="3044952" y="4608576"/>
            <a:ext cx="146304" cy="256032"/>
          </a:xfrm>
          <a:prstGeom prst="chevron">
            <a:avLst/>
          </a:prstGeom>
          <a:solidFill>
            <a:srgbClr val="8992A3"/>
          </a:solidFill>
          <a:ln w="1270">
            <a:solidFill>
              <a:srgbClr val="89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236976" y="4489704"/>
            <a:ext cx="1124712" cy="502920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10128" y="4572000"/>
            <a:ext cx="22860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2F6BFF"/>
                </a:solidFill>
                <a:latin typeface="Microsoft YaHei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0128" y="4754880"/>
            <a:ext cx="97840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72033"/>
                </a:solidFill>
                <a:latin typeface="Microsoft YaHei"/>
              </a:rPr>
              <a:t>Skill</a:t>
            </a:r>
          </a:p>
        </p:txBody>
      </p:sp>
      <p:sp>
        <p:nvSpPr>
          <p:cNvPr id="52" name="Chevron 51"/>
          <p:cNvSpPr/>
          <p:nvPr/>
        </p:nvSpPr>
        <p:spPr>
          <a:xfrm>
            <a:off x="4407408" y="4608576"/>
            <a:ext cx="146304" cy="256032"/>
          </a:xfrm>
          <a:prstGeom prst="chevron">
            <a:avLst/>
          </a:prstGeom>
          <a:solidFill>
            <a:srgbClr val="8992A3"/>
          </a:solidFill>
          <a:ln w="1270">
            <a:solidFill>
              <a:srgbClr val="89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599431" y="4489704"/>
            <a:ext cx="1124712" cy="502920"/>
          </a:xfrm>
          <a:prstGeom prst="round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72583" y="4572000"/>
            <a:ext cx="22860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2F6BFF"/>
                </a:solidFill>
                <a:latin typeface="Microsoft YaHei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72583" y="4754880"/>
            <a:ext cx="97840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72033"/>
                </a:solidFill>
                <a:latin typeface="Microsoft YaHei"/>
              </a:rPr>
              <a:t>Agent执行</a:t>
            </a:r>
          </a:p>
        </p:txBody>
      </p:sp>
      <p:sp>
        <p:nvSpPr>
          <p:cNvPr id="56" name="Chevron 55"/>
          <p:cNvSpPr/>
          <p:nvPr/>
        </p:nvSpPr>
        <p:spPr>
          <a:xfrm>
            <a:off x="5769864" y="4608576"/>
            <a:ext cx="146304" cy="256032"/>
          </a:xfrm>
          <a:prstGeom prst="chevron">
            <a:avLst/>
          </a:prstGeom>
          <a:solidFill>
            <a:srgbClr val="8992A3"/>
          </a:solidFill>
          <a:ln w="1270">
            <a:solidFill>
              <a:srgbClr val="89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961888" y="4489704"/>
            <a:ext cx="1124712" cy="502920"/>
          </a:xfrm>
          <a:prstGeom prst="roundRect">
            <a:avLst/>
          </a:prstGeom>
          <a:solidFill>
            <a:srgbClr val="E8F5ED"/>
          </a:solidFill>
          <a:ln w="10160">
            <a:solidFill>
              <a:srgbClr val="E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4572000"/>
            <a:ext cx="22860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138A52"/>
                </a:solidFill>
                <a:latin typeface="Microsoft YaHei"/>
              </a:rPr>
              <a:t>05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0" y="4754880"/>
            <a:ext cx="97840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72033"/>
                </a:solidFill>
                <a:latin typeface="Microsoft YaHei"/>
              </a:rPr>
              <a:t>效果回流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" y="5138928"/>
            <a:ext cx="6446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566176"/>
                </a:solidFill>
                <a:latin typeface="Microsoft YaHei"/>
              </a:rPr>
              <a:t>统一定义 → 固化流程 → 沉淀经验 → 自动执行 → 结果评估与持续优化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406640" y="4133087"/>
            <a:ext cx="4261104" cy="1444752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07808" y="4315968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D98200"/>
                </a:solidFill>
                <a:latin typeface="Microsoft YaHei"/>
              </a:rPr>
              <a:t>本次研讨建议拍板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07808" y="4645152"/>
            <a:ext cx="3822191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72033"/>
                </a:solidFill>
                <a:latin typeface="Microsoft YaHei"/>
              </a:rPr>
              <a:t>1  锁定BP、收入、CTR/DAU等量化目标
2  明确行业/资源位优先级与协同投入
3  统一增量实验、归因与价值核算口径
4  建立月度看板与季度复盘机制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0352" y="5925312"/>
            <a:ext cx="10972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66176"/>
                </a:solidFill>
                <a:latin typeface="Microsoft YaHei"/>
              </a:rPr>
              <a:t>关键判断：Agent不是独立工具项目，而是将行业方法论、推荐归因和数据治理沉淀为可规模复制的组织能力。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6519672"/>
            <a:ext cx="11173968" cy="9144"/>
          </a:xfrm>
          <a:prstGeom prst="rect">
            <a:avLst/>
          </a:prstGeom>
          <a:solidFill>
            <a:srgbClr val="DDE2EA"/>
          </a:solidFill>
          <a:ln w="1270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2064" y="6565392"/>
            <a:ext cx="87782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8992A3"/>
                </a:solidFill>
                <a:latin typeface="Microsoft YaHei"/>
              </a:rPr>
              <a:t>注：XX为待BP评审锁定项；其余基线来自当前规划输入。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21240" y="6565392"/>
            <a:ext cx="1737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8992A3"/>
                </a:solidFill>
                <a:latin typeface="Microsoft YaHei"/>
              </a:rPr>
              <a:t>数据中台 ·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2027年数据中台重点工作规划</dc:title>
  <dc:subject>2027重点工作研讨</dc:subject>
  <dc:creator>数据中台</dc:creator>
  <cp:keywords>数据中台, 数据科学, 推荐算法, DataAgent, 2027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