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9CE"/>
          </a:solidFill>
          <a:ln>
            <a:solidFill>
              <a:srgbClr val="00A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594360"/>
            <a:ext cx="2057400" cy="310896"/>
          </a:xfrm>
          <a:prstGeom prst="roundRect">
            <a:avLst/>
          </a:prstGeom>
          <a:solidFill>
            <a:srgbClr val="25466F"/>
          </a:solidFill>
          <a:ln w="12700">
            <a:solidFill>
              <a:srgbClr val="254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03504"/>
            <a:ext cx="2002536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研发 ST 会议｜可编辑模板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7680960" cy="1554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</a:rPr>
              <a:t>鸿蒙支付开发者效率提升</a:t>
            </a:r>
            <a:br/>
            <a:r>
              <a:rPr sz="3400" b="1">
                <a:solidFill>
                  <a:srgbClr val="FFFFFF"/>
                </a:solidFill>
                <a:latin typeface="Microsoft YaHei"/>
              </a:rPr>
              <a:t>与支撑专项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63240"/>
            <a:ext cx="7955279" cy="6400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D9E8FF"/>
                </a:solidFill>
                <a:latin typeface="Microsoft YaHei"/>
              </a:rPr>
              <a:t>从“人工经验驱动”升级为标准化、工具化、智能化、可度量的支付接入交付体系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143000"/>
            <a:ext cx="2514600" cy="3429000"/>
          </a:xfrm>
          <a:prstGeom prst="roundRect">
            <a:avLst/>
          </a:prstGeom>
          <a:solidFill>
            <a:srgbClr val="203A62"/>
          </a:solidFill>
          <a:ln w="12700">
            <a:solidFill>
              <a:srgbClr val="3156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98280" y="1508760"/>
            <a:ext cx="100584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8CBE5"/>
                </a:solidFill>
                <a:latin typeface="Microsoft YaHei"/>
              </a:rPr>
              <a:t>商户接入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1764792"/>
            <a:ext cx="1783080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更快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2441448"/>
            <a:ext cx="100584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8CBE5"/>
                </a:solidFill>
                <a:latin typeface="Microsoft YaHei"/>
              </a:rPr>
              <a:t>研发交付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2697480"/>
            <a:ext cx="1783080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更稳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3374136"/>
            <a:ext cx="100584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8CBE5"/>
                </a:solidFill>
                <a:latin typeface="Microsoft YaHei"/>
              </a:rPr>
              <a:t>技术支撑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3630168"/>
            <a:ext cx="1783080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可规模化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989320"/>
            <a:ext cx="7498079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8CBE5"/>
                </a:solidFill>
                <a:latin typeface="Microsoft YaHei"/>
              </a:rPr>
              <a:t>汇报人：【待填】    部门：【待填】    日期：【待填】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0292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769E0"/>
                </a:solidFill>
                <a:latin typeface="Microsoft YaHe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28600"/>
            <a:ext cx="1028700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72B4D"/>
                </a:solidFill>
                <a:latin typeface="Microsoft YaHei"/>
              </a:rPr>
              <a:t>专项摘要：这次要解决什么问题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41248"/>
            <a:ext cx="11155680" cy="0"/>
          </a:xfrm>
          <a:prstGeom prst="line">
            <a:avLst/>
          </a:prstGeom>
          <a:ln w="1270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66928" y="1078992"/>
            <a:ext cx="1115568" cy="384048"/>
          </a:xfrm>
          <a:prstGeom prst="roundRect">
            <a:avLst/>
          </a:prstGeom>
          <a:solidFill>
            <a:srgbClr val="1769E0"/>
          </a:solidFill>
          <a:ln w="12700">
            <a:solidFill>
              <a:srgbClr val="176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15568"/>
            <a:ext cx="1051560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一句话目标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83080" y="1078992"/>
            <a:ext cx="9829800" cy="84124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9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29968" y="1197864"/>
            <a:ext cx="923544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72B4D"/>
                </a:solidFill>
                <a:latin typeface="Microsoft YaHei"/>
              </a:rPr>
              <a:t>将支付接入从依赖人工经验和一对一支撑，升级为标准化、工具化、智能化、可度量的开发者交付体系。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67712"/>
            <a:ext cx="349300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267712"/>
            <a:ext cx="73152" cy="2331720"/>
          </a:xfrm>
          <a:prstGeom prst="rect">
            <a:avLst/>
          </a:prstGeom>
          <a:solidFill>
            <a:srgbClr val="D64545"/>
          </a:solidFill>
          <a:ln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377440"/>
            <a:ext cx="3145536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2B4D"/>
                </a:solidFill>
                <a:latin typeface="Microsoft YaHei"/>
              </a:rPr>
              <a:t>为什么做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3182112" cy="1719072"/>
          </a:xfrm>
          <a:prstGeom prst="rect">
            <a:avLst/>
          </a:prstGeom>
          <a:noFill/>
        </p:spPr>
        <p:txBody>
          <a:bodyPr wrap="square" rIns="73152" tIns="73152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接入链路长、文档与能力分散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签名验签及回调问题高频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支撑经验难复用、成本持续增长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2267712"/>
            <a:ext cx="349300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2267712"/>
            <a:ext cx="73152" cy="2331720"/>
          </a:xfrm>
          <a:prstGeom prst="rect">
            <a:avLst/>
          </a:prstGeom>
          <a:solidFill>
            <a:srgbClr val="1769E0"/>
          </a:solidFill>
          <a:ln>
            <a:solidFill>
              <a:srgbClr val="176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377440"/>
            <a:ext cx="3145536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2B4D"/>
                </a:solidFill>
                <a:latin typeface="Microsoft YaHei"/>
              </a:rPr>
              <a:t>重点做什么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788920"/>
            <a:ext cx="3182112" cy="1719072"/>
          </a:xfrm>
          <a:prstGeom prst="rect">
            <a:avLst/>
          </a:prstGeom>
          <a:noFill/>
        </p:spPr>
        <p:txBody>
          <a:bodyPr wrap="square" rIns="73152" tIns="73152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AI Skill 与场景化接入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SDK / Sample / 文档一体化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联调、上线门禁与诊断能力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9016" y="2267712"/>
            <a:ext cx="349300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9016" y="2267712"/>
            <a:ext cx="73152" cy="2331720"/>
          </a:xfrm>
          <a:prstGeom prst="rect">
            <a:avLst/>
          </a:prstGeom>
          <a:solidFill>
            <a:srgbClr val="00A884"/>
          </a:solidFill>
          <a:ln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8" y="2377440"/>
            <a:ext cx="3145536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2B4D"/>
                </a:solidFill>
                <a:latin typeface="Microsoft YaHei"/>
              </a:rPr>
              <a:t>交付价值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2788920"/>
            <a:ext cx="3182112" cy="1719072"/>
          </a:xfrm>
          <a:prstGeom prst="rect">
            <a:avLst/>
          </a:prstGeom>
          <a:noFill/>
        </p:spPr>
        <p:txBody>
          <a:bodyPr wrap="square" rIns="73152" tIns="73152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缩短首笔成功支付耗时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提升首次成功率与上线质量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提高自助解决率、降低工单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919472"/>
            <a:ext cx="10972800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5065776"/>
            <a:ext cx="141732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72B4D"/>
                </a:solidFill>
                <a:latin typeface="Microsoft YaHei"/>
              </a:rPr>
              <a:t>本次 ST 希望达成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5001768"/>
            <a:ext cx="8732520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① 目标与指标口径确认   ② 五大专项优先级确认   ③ 跨团队责任与资源确认   ④ 环境与数据能力决策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78240" y="6016752"/>
            <a:ext cx="2880360" cy="384048"/>
          </a:xfrm>
          <a:prstGeom prst="roundRect">
            <a:avLst/>
          </a:prstGeom>
          <a:solidFill>
            <a:srgbClr val="FFFBEA"/>
          </a:solidFill>
          <a:ln w="12700">
            <a:solidFill>
              <a:srgbClr val="F0D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87968" y="6053328"/>
            <a:ext cx="2670048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67085"/>
                </a:solidFill>
                <a:latin typeface="Microsoft YaHei"/>
              </a:rPr>
              <a:t>讲述提示：开门见山讲清楚目标、价值和本次会议要决策的事项。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28816"/>
            <a:ext cx="987552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67085"/>
                </a:solidFill>
                <a:latin typeface="Microsoft YaHei"/>
              </a:rPr>
              <a:t>鸿蒙支付开放能力｜开发者效率提升和支撑专项｜内部汇报模板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6528816"/>
            <a:ext cx="173736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1769E0"/>
                </a:solidFill>
                <a:latin typeface="Microsoft YaHei"/>
              </a:rPr>
              <a:t>所有【待填】内容均可编辑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0292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769E0"/>
                </a:solidFill>
                <a:latin typeface="Microsoft YaHe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28600"/>
            <a:ext cx="1028700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72B4D"/>
                </a:solidFill>
                <a:latin typeface="Microsoft YaHei"/>
              </a:rPr>
              <a:t>现状诊断：商户接入旅程与关键断点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41248"/>
            <a:ext cx="11155680" cy="0"/>
          </a:xfrm>
          <a:prstGeom prst="line">
            <a:avLst/>
          </a:prstGeom>
          <a:ln w="1270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" y="667512"/>
            <a:ext cx="1005840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67085"/>
                </a:solidFill>
                <a:latin typeface="Microsoft YaHei"/>
              </a:rPr>
              <a:t>建议补充真实数据、典型商户案例和 Top 问题分布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162763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1444752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D64545"/>
                </a:solidFill>
                <a:latin typeface="Microsoft YaHei"/>
              </a:rPr>
              <a:t>① 接入准备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45920"/>
            <a:ext cx="1444752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67085"/>
                </a:solidFill>
                <a:latin typeface="Microsoft YaHei"/>
              </a:rPr>
              <a:t>入网 / AppID</a:t>
            </a:r>
            <a:br/>
            <a:r>
              <a:rPr sz="1100" b="0">
                <a:solidFill>
                  <a:srgbClr val="667085"/>
                </a:solidFill>
                <a:latin typeface="Microsoft YaHei"/>
              </a:rPr>
              <a:t>证书 / 权限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30552" y="1773936"/>
            <a:ext cx="265176" cy="0"/>
          </a:xfrm>
          <a:prstGeom prst="line">
            <a:avLst/>
          </a:prstGeom>
          <a:ln w="2540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04872" y="1234440"/>
            <a:ext cx="162763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96312" y="1353312"/>
            <a:ext cx="1444752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2994A"/>
                </a:solidFill>
                <a:latin typeface="Microsoft YaHei"/>
              </a:rPr>
              <a:t>② 方案设计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96312" y="1645920"/>
            <a:ext cx="1444752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67085"/>
                </a:solidFill>
                <a:latin typeface="Microsoft YaHei"/>
              </a:rPr>
              <a:t>商户模型</a:t>
            </a:r>
            <a:br/>
            <a:r>
              <a:rPr sz="1100" b="0">
                <a:solidFill>
                  <a:srgbClr val="667085"/>
                </a:solidFill>
                <a:latin typeface="Microsoft YaHei"/>
              </a:rPr>
              <a:t>场景选型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32504" y="1773936"/>
            <a:ext cx="265175" cy="0"/>
          </a:xfrm>
          <a:prstGeom prst="line">
            <a:avLst/>
          </a:prstGeom>
          <a:ln w="2540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06824" y="1234440"/>
            <a:ext cx="162763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6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8264" y="1353312"/>
            <a:ext cx="1444752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769E0"/>
                </a:solidFill>
                <a:latin typeface="Microsoft YaHei"/>
              </a:rPr>
              <a:t>③ 编码集成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8264" y="1645920"/>
            <a:ext cx="1444752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67085"/>
                </a:solidFill>
                <a:latin typeface="Microsoft YaHei"/>
              </a:rPr>
              <a:t>端侧 / 服务端</a:t>
            </a:r>
            <a:br/>
            <a:r>
              <a:rPr sz="1100" b="0">
                <a:solidFill>
                  <a:srgbClr val="667085"/>
                </a:solidFill>
                <a:latin typeface="Microsoft YaHei"/>
              </a:rPr>
              <a:t>回调处理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34456" y="1773936"/>
            <a:ext cx="265175" cy="0"/>
          </a:xfrm>
          <a:prstGeom prst="line">
            <a:avLst/>
          </a:prstGeom>
          <a:ln w="2540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08776" y="1234440"/>
            <a:ext cx="162763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B6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216" y="1353312"/>
            <a:ext cx="1444752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7B61A8"/>
                </a:solidFill>
                <a:latin typeface="Microsoft YaHei"/>
              </a:rPr>
              <a:t>④ 联调验证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1645920"/>
            <a:ext cx="1444752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67085"/>
                </a:solidFill>
                <a:latin typeface="Microsoft YaHei"/>
              </a:rPr>
              <a:t>异常场景</a:t>
            </a:r>
            <a:br/>
            <a:r>
              <a:rPr sz="1100" b="0">
                <a:solidFill>
                  <a:srgbClr val="667085"/>
                </a:solidFill>
                <a:latin typeface="Microsoft YaHei"/>
              </a:rPr>
              <a:t>生产小额联调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36408" y="1773936"/>
            <a:ext cx="265175" cy="0"/>
          </a:xfrm>
          <a:prstGeom prst="line">
            <a:avLst/>
          </a:prstGeom>
          <a:ln w="2540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110728" y="1234440"/>
            <a:ext cx="162763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02168" y="1353312"/>
            <a:ext cx="1444752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0A884"/>
                </a:solidFill>
                <a:latin typeface="Microsoft YaHei"/>
              </a:rPr>
              <a:t>⑤ 上线验收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2168" y="1645920"/>
            <a:ext cx="1444752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67085"/>
                </a:solidFill>
                <a:latin typeface="Microsoft YaHei"/>
              </a:rPr>
              <a:t>安全 / 幂等</a:t>
            </a:r>
            <a:br/>
            <a:r>
              <a:rPr sz="1100" b="0">
                <a:solidFill>
                  <a:srgbClr val="667085"/>
                </a:solidFill>
                <a:latin typeface="Microsoft YaHei"/>
              </a:rPr>
              <a:t>压测 / 参数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738360" y="1773936"/>
            <a:ext cx="265176" cy="0"/>
          </a:xfrm>
          <a:prstGeom prst="line">
            <a:avLst/>
          </a:prstGeom>
          <a:ln w="2540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012680" y="1234440"/>
            <a:ext cx="162763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04120" y="1353312"/>
            <a:ext cx="1444752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7AE60"/>
                </a:solidFill>
                <a:latin typeface="Microsoft YaHei"/>
              </a:rPr>
              <a:t>⑥ 生产运营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04120" y="1645920"/>
            <a:ext cx="1444752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67085"/>
                </a:solidFill>
                <a:latin typeface="Microsoft YaHei"/>
              </a:rPr>
              <a:t>监控 / 对账</a:t>
            </a:r>
            <a:br/>
            <a:r>
              <a:rPr sz="1100" b="0">
                <a:solidFill>
                  <a:srgbClr val="667085"/>
                </a:solidFill>
                <a:latin typeface="Microsoft YaHei"/>
              </a:rPr>
              <a:t>退款 / 排障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2788920"/>
            <a:ext cx="3456432" cy="98755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" y="2788920"/>
            <a:ext cx="73152" cy="987552"/>
          </a:xfrm>
          <a:prstGeom prst="rect">
            <a:avLst/>
          </a:prstGeom>
          <a:solidFill>
            <a:srgbClr val="D64545"/>
          </a:solidFill>
          <a:ln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2898648"/>
            <a:ext cx="310896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2B4D"/>
                </a:solidFill>
                <a:latin typeface="Microsoft YaHei"/>
              </a:rPr>
              <a:t>配置链路复杂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" y="3310127"/>
            <a:ext cx="3108960" cy="3566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67085"/>
                </a:solidFill>
                <a:latin typeface="Microsoft YaHei"/>
              </a:rPr>
              <a:t>主体、商户号、AppID、证书、产品权限涉及多平台协同。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43400" y="2788920"/>
            <a:ext cx="3456432" cy="98755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43400" y="2788920"/>
            <a:ext cx="73152" cy="987552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53712" y="2898648"/>
            <a:ext cx="310896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2B4D"/>
                </a:solidFill>
                <a:latin typeface="Microsoft YaHei"/>
              </a:rPr>
              <a:t>知识资产分散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44568" y="3310127"/>
            <a:ext cx="3108960" cy="3566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67085"/>
                </a:solidFill>
                <a:latin typeface="Microsoft YaHei"/>
              </a:rPr>
              <a:t>客户端、服务端、回调与商户模型文档缺少一站式路径。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2788920"/>
            <a:ext cx="3456432" cy="98755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92440" y="2788920"/>
            <a:ext cx="73152" cy="987552"/>
          </a:xfrm>
          <a:prstGeom prst="rect">
            <a:avLst/>
          </a:prstGeom>
          <a:solidFill>
            <a:srgbClr val="7B61A8"/>
          </a:solidFill>
          <a:ln>
            <a:solidFill>
              <a:srgbClr val="7B6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02752" y="2898648"/>
            <a:ext cx="310896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2B4D"/>
                </a:solidFill>
                <a:latin typeface="Microsoft YaHei"/>
              </a:rPr>
              <a:t>安全实现门槛高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93608" y="3310127"/>
            <a:ext cx="3108960" cy="3566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67085"/>
                </a:solidFill>
                <a:latin typeface="Microsoft YaHei"/>
              </a:rPr>
              <a:t>签名、SM2 验签、私钥保护、幂等处理依赖开发经验。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" y="4023360"/>
            <a:ext cx="3456432" cy="98755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94360" y="4023360"/>
            <a:ext cx="73152" cy="987552"/>
          </a:xfrm>
          <a:prstGeom prst="rect">
            <a:avLst/>
          </a:prstGeom>
          <a:solidFill>
            <a:srgbClr val="D64545"/>
          </a:solidFill>
          <a:ln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2" y="4133088"/>
            <a:ext cx="310896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2B4D"/>
                </a:solidFill>
                <a:latin typeface="Microsoft YaHei"/>
              </a:rPr>
              <a:t>联调保障不足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8" y="4544568"/>
            <a:ext cx="3108960" cy="3566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67085"/>
                </a:solidFill>
                <a:latin typeface="Microsoft YaHei"/>
              </a:rPr>
              <a:t>Payment Kit 暂无明确免扣费独立沙盒，生产联调风险较高。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43400" y="4023360"/>
            <a:ext cx="3456432" cy="98755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43400" y="4023360"/>
            <a:ext cx="73152" cy="987552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53712" y="4133088"/>
            <a:ext cx="310896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2B4D"/>
                </a:solidFill>
                <a:latin typeface="Microsoft YaHei"/>
              </a:rPr>
              <a:t>问题定位效率低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44568" y="4544568"/>
            <a:ext cx="3108960" cy="3566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67085"/>
                </a:solidFill>
                <a:latin typeface="Microsoft YaHei"/>
              </a:rPr>
              <a:t>错误码缺少上下文，重复咨询与人工排障比例高。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92440" y="4023360"/>
            <a:ext cx="3456432" cy="98755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092440" y="4023360"/>
            <a:ext cx="73152" cy="987552"/>
          </a:xfrm>
          <a:prstGeom prst="rect">
            <a:avLst/>
          </a:prstGeom>
          <a:solidFill>
            <a:srgbClr val="7B61A8"/>
          </a:solidFill>
          <a:ln>
            <a:solidFill>
              <a:srgbClr val="7B6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02752" y="4133088"/>
            <a:ext cx="310896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2B4D"/>
                </a:solidFill>
                <a:latin typeface="Microsoft YaHei"/>
              </a:rPr>
              <a:t>过程不可度量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93608" y="4544568"/>
            <a:ext cx="3108960" cy="3566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67085"/>
                </a:solidFill>
                <a:latin typeface="Microsoft YaHei"/>
              </a:rPr>
              <a:t>尚未形成从接入资格到首笔成功支付的统一漏斗。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778240" y="6016752"/>
            <a:ext cx="2880360" cy="384048"/>
          </a:xfrm>
          <a:prstGeom prst="roundRect">
            <a:avLst/>
          </a:prstGeom>
          <a:solidFill>
            <a:srgbClr val="FFFBEA"/>
          </a:solidFill>
          <a:ln w="12700">
            <a:solidFill>
              <a:srgbClr val="F0D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87968" y="6053328"/>
            <a:ext cx="2670048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67085"/>
                </a:solidFill>
                <a:latin typeface="Microsoft YaHei"/>
              </a:rPr>
              <a:t>讲述提示：用数据回答：问题发生在哪一步、影响多少商户、造成多少支撑成本。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528816"/>
            <a:ext cx="987552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67085"/>
                </a:solidFill>
                <a:latin typeface="Microsoft YaHei"/>
              </a:rPr>
              <a:t>鸿蒙支付开放能力｜开发者效率提升和支撑专项｜内部汇报模板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21240" y="6528816"/>
            <a:ext cx="173736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1769E0"/>
                </a:solidFill>
                <a:latin typeface="Microsoft YaHei"/>
              </a:rPr>
              <a:t>所有【待填】内容均可编辑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0292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769E0"/>
                </a:solidFill>
                <a:latin typeface="Microsoft YaHe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28600"/>
            <a:ext cx="1028700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72B4D"/>
                </a:solidFill>
                <a:latin typeface="Microsoft YaHei"/>
              </a:rPr>
              <a:t>目标体系：以首笔成功支付耗时为北极星指标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41248"/>
            <a:ext cx="11155680" cy="0"/>
          </a:xfrm>
          <a:prstGeom prst="line">
            <a:avLst/>
          </a:prstGeom>
          <a:ln w="1270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" y="667512"/>
            <a:ext cx="1005840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67085"/>
                </a:solidFill>
                <a:latin typeface="Microsoft YaHei"/>
              </a:rPr>
              <a:t>指标必须同时给出基线、目标、数据源和责任人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15568"/>
            <a:ext cx="10972800" cy="1078992"/>
          </a:xfrm>
          <a:prstGeom prst="roundRect">
            <a:avLst/>
          </a:prstGeom>
          <a:solidFill>
            <a:srgbClr val="172B4D"/>
          </a:solidFill>
          <a:ln w="12700"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298448"/>
            <a:ext cx="114300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FD6F4"/>
                </a:solidFill>
                <a:latin typeface="Microsoft YaHei"/>
              </a:rPr>
              <a:t>北极星指标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29968" y="1197864"/>
            <a:ext cx="4251960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</a:rPr>
              <a:t>Time to First Successful Payment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298448"/>
            <a:ext cx="4800600" cy="31089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D9E8FF"/>
                </a:solidFill>
                <a:latin typeface="Microsoft YaHei"/>
              </a:rPr>
              <a:t>商户获得接入资格 → 完成首笔服务端确认的有效支付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42032"/>
            <a:ext cx="713232" cy="310896"/>
          </a:xfrm>
          <a:prstGeom prst="roundRect">
            <a:avLst/>
          </a:prstGeom>
          <a:solidFill>
            <a:srgbClr val="1769E0"/>
          </a:solidFill>
          <a:ln w="12700">
            <a:solidFill>
              <a:srgbClr val="176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551175"/>
            <a:ext cx="658368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效率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926080"/>
            <a:ext cx="258775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" y="3017520"/>
            <a:ext cx="2295144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7085"/>
                </a:solidFill>
                <a:latin typeface="Microsoft YaHei"/>
              </a:rPr>
              <a:t>平均接入周期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3264408"/>
            <a:ext cx="2295144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769E0"/>
                </a:solidFill>
                <a:latin typeface="Microsoft YaHei"/>
              </a:rPr>
              <a:t>基线【待填】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3675888"/>
            <a:ext cx="2295144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67085"/>
                </a:solidFill>
                <a:latin typeface="Microsoft YaHei"/>
              </a:rPr>
              <a:t>目标：【待填】｜数据源：【待填】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187952"/>
            <a:ext cx="258775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" y="4279392"/>
            <a:ext cx="2295144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7085"/>
                </a:solidFill>
                <a:latin typeface="Microsoft YaHei"/>
              </a:rPr>
              <a:t>首笔支付耗时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" y="4526280"/>
            <a:ext cx="2295144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769E0"/>
                </a:solidFill>
                <a:latin typeface="Microsoft YaHei"/>
              </a:rPr>
              <a:t>目标【待填】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" y="4937760"/>
            <a:ext cx="2295144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67085"/>
                </a:solidFill>
                <a:latin typeface="Microsoft YaHei"/>
              </a:rPr>
              <a:t>责任人：【待填】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10712" y="2542032"/>
            <a:ext cx="713232" cy="310896"/>
          </a:xfrm>
          <a:prstGeom prst="roundRect">
            <a:avLst/>
          </a:prstGeom>
          <a:solidFill>
            <a:srgbClr val="00A884"/>
          </a:solidFill>
          <a:ln w="12700"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38144" y="2551175"/>
            <a:ext cx="658368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质量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10712" y="2926080"/>
            <a:ext cx="258775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57016" y="3017520"/>
            <a:ext cx="2295144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7085"/>
                </a:solidFill>
                <a:latin typeface="Microsoft YaHei"/>
              </a:rPr>
              <a:t>首次回调验签成功率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57016" y="3264408"/>
            <a:ext cx="2295144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0A884"/>
                </a:solidFill>
                <a:latin typeface="Microsoft YaHei"/>
              </a:rPr>
              <a:t>基线【待填】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7016" y="3675888"/>
            <a:ext cx="2295144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67085"/>
                </a:solidFill>
                <a:latin typeface="Microsoft YaHei"/>
              </a:rPr>
              <a:t>目标：【待填】｜数据源：【待填】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10712" y="4187952"/>
            <a:ext cx="258775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57016" y="4279392"/>
            <a:ext cx="2295144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7085"/>
                </a:solidFill>
                <a:latin typeface="Microsoft YaHei"/>
              </a:rPr>
              <a:t>上线检查通过率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7016" y="4526280"/>
            <a:ext cx="2295144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0A884"/>
                </a:solidFill>
                <a:latin typeface="Microsoft YaHei"/>
              </a:rPr>
              <a:t>目标【待填】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57016" y="4937760"/>
            <a:ext cx="2295144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67085"/>
                </a:solidFill>
                <a:latin typeface="Microsoft YaHei"/>
              </a:rPr>
              <a:t>责任人：【待填】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27064" y="2542032"/>
            <a:ext cx="713232" cy="310896"/>
          </a:xfrm>
          <a:prstGeom prst="roundRect">
            <a:avLst/>
          </a:prstGeom>
          <a:solidFill>
            <a:srgbClr val="7B61A8"/>
          </a:solidFill>
          <a:ln w="12700">
            <a:solidFill>
              <a:srgbClr val="7B6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54496" y="2551175"/>
            <a:ext cx="658368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支撑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27064" y="2926080"/>
            <a:ext cx="258775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73368" y="3017520"/>
            <a:ext cx="2295144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7085"/>
                </a:solidFill>
                <a:latin typeface="Microsoft YaHei"/>
              </a:rPr>
              <a:t>开发者自助解决率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3368" y="3264408"/>
            <a:ext cx="2295144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7B61A8"/>
                </a:solidFill>
                <a:latin typeface="Microsoft YaHei"/>
              </a:rPr>
              <a:t>基线【待填】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73368" y="3675888"/>
            <a:ext cx="2295144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67085"/>
                </a:solidFill>
                <a:latin typeface="Microsoft YaHei"/>
              </a:rPr>
              <a:t>目标：【待填】｜数据源：【待填】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27064" y="4187952"/>
            <a:ext cx="258775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73368" y="4279392"/>
            <a:ext cx="2295144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7085"/>
                </a:solidFill>
                <a:latin typeface="Microsoft YaHei"/>
              </a:rPr>
              <a:t>单商户工单量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3368" y="4526280"/>
            <a:ext cx="2295144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7B61A8"/>
                </a:solidFill>
                <a:latin typeface="Microsoft YaHei"/>
              </a:rPr>
              <a:t>目标【待填】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3368" y="4937760"/>
            <a:ext cx="2295144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67085"/>
                </a:solidFill>
                <a:latin typeface="Microsoft YaHei"/>
              </a:rPr>
              <a:t>责任人：【待填】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43416" y="2542032"/>
            <a:ext cx="713232" cy="310896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70848" y="2551175"/>
            <a:ext cx="658368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稳定性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43416" y="2926080"/>
            <a:ext cx="258775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89720" y="3017520"/>
            <a:ext cx="2295144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7085"/>
                </a:solidFill>
                <a:latin typeface="Microsoft YaHei"/>
              </a:rPr>
              <a:t>订单状态一致率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9720" y="3264408"/>
            <a:ext cx="2295144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7AE60"/>
                </a:solidFill>
                <a:latin typeface="Microsoft YaHei"/>
              </a:rPr>
              <a:t>基线【待填】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3675888"/>
            <a:ext cx="2295144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67085"/>
                </a:solidFill>
                <a:latin typeface="Microsoft YaHei"/>
              </a:rPr>
              <a:t>目标：【待填】｜数据源：【待填】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43416" y="4187952"/>
            <a:ext cx="258775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89720" y="4279392"/>
            <a:ext cx="2295144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7085"/>
                </a:solidFill>
                <a:latin typeface="Microsoft YaHei"/>
              </a:rPr>
              <a:t>生产问题率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9720" y="4526280"/>
            <a:ext cx="2295144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7AE60"/>
                </a:solidFill>
                <a:latin typeface="Microsoft YaHei"/>
              </a:rPr>
              <a:t>目标【待填】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89720" y="4937760"/>
            <a:ext cx="2295144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67085"/>
                </a:solidFill>
                <a:latin typeface="Microsoft YaHei"/>
              </a:rPr>
              <a:t>责任人：【待填】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5577840"/>
            <a:ext cx="10972800" cy="50292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FFD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4672" y="5669280"/>
            <a:ext cx="1056132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05100"/>
                </a:solidFill>
                <a:latin typeface="Microsoft YaHei"/>
              </a:rPr>
              <a:t>若当前没有可靠基线：第一阶段先完成旅程埋点、指标定义和数据看板，再承诺改善幅度。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778240" y="6016752"/>
            <a:ext cx="2880360" cy="384048"/>
          </a:xfrm>
          <a:prstGeom prst="roundRect">
            <a:avLst/>
          </a:prstGeom>
          <a:solidFill>
            <a:srgbClr val="FFFBEA"/>
          </a:solidFill>
          <a:ln w="12700">
            <a:solidFill>
              <a:srgbClr val="F0D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87968" y="6053328"/>
            <a:ext cx="2670048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67085"/>
                </a:solidFill>
                <a:latin typeface="Microsoft YaHei"/>
              </a:rPr>
              <a:t>讲述提示：不要只报工具数量；用效率、质量、支撑成本和稳定性衡量结果。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528816"/>
            <a:ext cx="987552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67085"/>
                </a:solidFill>
                <a:latin typeface="Microsoft YaHei"/>
              </a:rPr>
              <a:t>鸿蒙支付开放能力｜开发者效率提升和支撑专项｜内部汇报模板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21240" y="6528816"/>
            <a:ext cx="173736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1769E0"/>
                </a:solidFill>
                <a:latin typeface="Microsoft YaHei"/>
              </a:rPr>
              <a:t>所有【待填】内容均可编辑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0292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769E0"/>
                </a:solidFill>
                <a:latin typeface="Microsoft YaHe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28600"/>
            <a:ext cx="1028700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72B4D"/>
                </a:solidFill>
                <a:latin typeface="Microsoft YaHei"/>
              </a:rPr>
              <a:t>能力全景：覆盖研发、联调、上线与运营闭环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41248"/>
            <a:ext cx="11155680" cy="0"/>
          </a:xfrm>
          <a:prstGeom prst="line">
            <a:avLst/>
          </a:prstGeom>
          <a:ln w="1270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02920" y="1051560"/>
            <a:ext cx="1627632" cy="475488"/>
          </a:xfrm>
          <a:prstGeom prst="roundRect">
            <a:avLst/>
          </a:prstGeom>
          <a:solidFill>
            <a:srgbClr val="1769E0"/>
          </a:solidFill>
          <a:ln w="12700">
            <a:solidFill>
              <a:srgbClr val="176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15568"/>
            <a:ext cx="1536192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01  接入准备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04872" y="1051560"/>
            <a:ext cx="1627632" cy="475488"/>
          </a:xfrm>
          <a:prstGeom prst="roundRect">
            <a:avLst/>
          </a:prstGeom>
          <a:solidFill>
            <a:srgbClr val="1769E0"/>
          </a:solidFill>
          <a:ln w="12700">
            <a:solidFill>
              <a:srgbClr val="176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1" y="1115568"/>
            <a:ext cx="1536192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02  方案设计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051560"/>
            <a:ext cx="1627632" cy="475488"/>
          </a:xfrm>
          <a:prstGeom prst="roundRect">
            <a:avLst/>
          </a:prstGeom>
          <a:solidFill>
            <a:srgbClr val="1769E0"/>
          </a:solidFill>
          <a:ln w="12700">
            <a:solidFill>
              <a:srgbClr val="176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52544" y="1115568"/>
            <a:ext cx="1536192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03  编码集成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1051560"/>
            <a:ext cx="1627632" cy="475488"/>
          </a:xfrm>
          <a:prstGeom prst="roundRect">
            <a:avLst/>
          </a:prstGeom>
          <a:solidFill>
            <a:srgbClr val="1769E0"/>
          </a:solidFill>
          <a:ln w="12700">
            <a:solidFill>
              <a:srgbClr val="176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4496" y="1115568"/>
            <a:ext cx="1536192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04  联调验证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0728" y="1051560"/>
            <a:ext cx="1627632" cy="475488"/>
          </a:xfrm>
          <a:prstGeom prst="roundRect">
            <a:avLst/>
          </a:prstGeom>
          <a:solidFill>
            <a:srgbClr val="1769E0"/>
          </a:solidFill>
          <a:ln w="12700">
            <a:solidFill>
              <a:srgbClr val="176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8" y="1115568"/>
            <a:ext cx="1536192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05  上线验收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12680" y="1051560"/>
            <a:ext cx="1627632" cy="475488"/>
          </a:xfrm>
          <a:prstGeom prst="roundRect">
            <a:avLst/>
          </a:prstGeom>
          <a:solidFill>
            <a:srgbClr val="00A884"/>
          </a:solidFill>
          <a:ln w="12700"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0" y="1115568"/>
            <a:ext cx="1536192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06  生产运营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1783080"/>
            <a:ext cx="1115568" cy="987552"/>
          </a:xfrm>
          <a:prstGeom prst="roundRect">
            <a:avLst/>
          </a:prstGeom>
          <a:solidFill>
            <a:srgbClr val="1769E0"/>
          </a:solidFill>
          <a:ln w="12700">
            <a:solidFill>
              <a:srgbClr val="176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1901952"/>
            <a:ext cx="969264" cy="7132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研发辅助工具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5648" y="1783080"/>
            <a:ext cx="1435608" cy="98755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10512" y="1874519"/>
            <a:ext cx="1325880" cy="7863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263238"/>
                </a:solidFill>
                <a:latin typeface="Microsoft YaHei"/>
              </a:rPr>
              <a:t>接入指南</a:t>
            </a:r>
            <a:br/>
            <a:r>
              <a:rPr sz="1050" b="0">
                <a:solidFill>
                  <a:srgbClr val="263238"/>
                </a:solidFill>
                <a:latin typeface="Microsoft YaHei"/>
              </a:rPr>
              <a:t>配置清单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1783080"/>
            <a:ext cx="1435608" cy="98755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38144" y="1874519"/>
            <a:ext cx="1325880" cy="7863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263238"/>
                </a:solidFill>
                <a:latin typeface="Microsoft YaHei"/>
              </a:rPr>
              <a:t>Payment Skill</a:t>
            </a:r>
            <a:br/>
            <a:r>
              <a:rPr sz="1050" b="0">
                <a:solidFill>
                  <a:srgbClr val="263238"/>
                </a:solidFill>
                <a:latin typeface="Microsoft YaHei"/>
              </a:rPr>
              <a:t>场景任务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10912" y="1783080"/>
            <a:ext cx="1435608" cy="98755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65776" y="1874519"/>
            <a:ext cx="1325880" cy="7863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263238"/>
                </a:solidFill>
                <a:latin typeface="Microsoft YaHei"/>
              </a:rPr>
              <a:t>@kit.PaymentKit</a:t>
            </a:r>
            <a:br/>
            <a:r>
              <a:rPr sz="1050" b="0">
                <a:solidFill>
                  <a:srgbClr val="263238"/>
                </a:solidFill>
                <a:latin typeface="Microsoft YaHei"/>
              </a:rPr>
              <a:t>pay-java / REST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38544" y="1783080"/>
            <a:ext cx="1435608" cy="98755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93407" y="1874519"/>
            <a:ext cx="1325880" cy="7863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263238"/>
                </a:solidFill>
                <a:latin typeface="Microsoft YaHei"/>
              </a:rPr>
              <a:t>错误码诊断</a:t>
            </a:r>
            <a:br/>
            <a:r>
              <a:rPr sz="1050" b="0">
                <a:solidFill>
                  <a:srgbClr val="263238"/>
                </a:solidFill>
                <a:latin typeface="Microsoft YaHei"/>
              </a:rPr>
              <a:t>Sample / Mock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66175" y="1783080"/>
            <a:ext cx="1435608" cy="98755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874519"/>
            <a:ext cx="1325880" cy="7863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263238"/>
                </a:solidFill>
                <a:latin typeface="Microsoft YaHei"/>
              </a:rPr>
              <a:t>上线检查清单</a:t>
            </a:r>
            <a:br/>
            <a:r>
              <a:rPr sz="1050" b="0">
                <a:solidFill>
                  <a:srgbClr val="263238"/>
                </a:solidFill>
                <a:latin typeface="Microsoft YaHei"/>
              </a:rPr>
              <a:t>参数复核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93808" y="1783080"/>
            <a:ext cx="1435608" cy="98755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48672" y="1874519"/>
            <a:ext cx="1325880" cy="7863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263238"/>
                </a:solidFill>
                <a:latin typeface="Microsoft YaHei"/>
              </a:rPr>
              <a:t>FAQ / 工单</a:t>
            </a:r>
            <a:br/>
            <a:r>
              <a:rPr sz="1050" b="0">
                <a:solidFill>
                  <a:srgbClr val="263238"/>
                </a:solidFill>
                <a:latin typeface="Microsoft YaHei"/>
              </a:rPr>
              <a:t>知识回流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026664"/>
            <a:ext cx="1115568" cy="987552"/>
          </a:xfrm>
          <a:prstGeom prst="round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" y="3145536"/>
            <a:ext cx="969264" cy="7132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安全与质量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755648" y="3026664"/>
            <a:ext cx="1435608" cy="987552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10512" y="3118104"/>
            <a:ext cx="1325880" cy="7863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263238"/>
                </a:solidFill>
                <a:latin typeface="Microsoft YaHei"/>
              </a:rPr>
              <a:t>身份与权限</a:t>
            </a:r>
            <a:br/>
            <a:r>
              <a:rPr sz="1050" b="0">
                <a:solidFill>
                  <a:srgbClr val="263238"/>
                </a:solidFill>
                <a:latin typeface="Microsoft YaHei"/>
              </a:rPr>
              <a:t>检查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83280" y="3026664"/>
            <a:ext cx="1435608" cy="987552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38144" y="3118104"/>
            <a:ext cx="1325880" cy="7863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263238"/>
                </a:solidFill>
                <a:latin typeface="Microsoft YaHei"/>
              </a:rPr>
              <a:t>商户模型</a:t>
            </a:r>
            <a:br/>
            <a:r>
              <a:rPr sz="1050" b="0">
                <a:solidFill>
                  <a:srgbClr val="263238"/>
                </a:solidFill>
                <a:latin typeface="Microsoft YaHei"/>
              </a:rPr>
              <a:t>合规选型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10912" y="3026664"/>
            <a:ext cx="1435608" cy="987552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65776" y="3118104"/>
            <a:ext cx="1325880" cy="7863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263238"/>
                </a:solidFill>
                <a:latin typeface="Microsoft YaHei"/>
              </a:rPr>
              <a:t>签名 / 验签</a:t>
            </a:r>
            <a:br/>
            <a:r>
              <a:rPr sz="1050" b="0">
                <a:solidFill>
                  <a:srgbClr val="263238"/>
                </a:solidFill>
                <a:latin typeface="Microsoft YaHei"/>
              </a:rPr>
              <a:t>敏感信息加密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38544" y="3026664"/>
            <a:ext cx="1435608" cy="987552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93407" y="3118104"/>
            <a:ext cx="1325880" cy="7863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263238"/>
                </a:solidFill>
                <a:latin typeface="Microsoft YaHei"/>
              </a:rPr>
              <a:t>异常场景</a:t>
            </a:r>
            <a:br/>
            <a:r>
              <a:rPr sz="1050" b="0">
                <a:solidFill>
                  <a:srgbClr val="263238"/>
                </a:solidFill>
                <a:latin typeface="Microsoft YaHei"/>
              </a:rPr>
              <a:t>回调幂等测试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66175" y="3026664"/>
            <a:ext cx="1435608" cy="987552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3118104"/>
            <a:ext cx="1325880" cy="7863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263238"/>
                </a:solidFill>
                <a:latin typeface="Microsoft YaHei"/>
              </a:rPr>
              <a:t>私钥 / HTTPS</a:t>
            </a:r>
            <a:br/>
            <a:r>
              <a:rPr sz="1050" b="0">
                <a:solidFill>
                  <a:srgbClr val="263238"/>
                </a:solidFill>
                <a:latin typeface="Microsoft YaHei"/>
              </a:rPr>
              <a:t>压测验收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893808" y="3026664"/>
            <a:ext cx="1435608" cy="987552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48672" y="3118104"/>
            <a:ext cx="1325880" cy="7863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263238"/>
                </a:solidFill>
                <a:latin typeface="Microsoft YaHei"/>
              </a:rPr>
              <a:t>订单一致性</a:t>
            </a:r>
            <a:br/>
            <a:r>
              <a:rPr sz="1050" b="0">
                <a:solidFill>
                  <a:srgbClr val="263238"/>
                </a:solidFill>
                <a:latin typeface="Microsoft YaHei"/>
              </a:rPr>
              <a:t>生产监控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4270248"/>
            <a:ext cx="1115568" cy="987552"/>
          </a:xfrm>
          <a:prstGeom prst="roundRect">
            <a:avLst/>
          </a:prstGeom>
          <a:solidFill>
            <a:srgbClr val="00A884"/>
          </a:solidFill>
          <a:ln w="12700"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6072" y="4389120"/>
            <a:ext cx="969264" cy="7132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平台与支撑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755648" y="4270248"/>
            <a:ext cx="1435608" cy="987552"/>
          </a:xfrm>
          <a:prstGeom prst="roundRect">
            <a:avLst/>
          </a:prstGeom>
          <a:solidFill>
            <a:srgbClr val="EAF8F3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810512" y="4361688"/>
            <a:ext cx="1325880" cy="7863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263238"/>
                </a:solidFill>
                <a:latin typeface="Microsoft YaHei"/>
              </a:rPr>
              <a:t>商户平台</a:t>
            </a:r>
            <a:br/>
            <a:r>
              <a:rPr sz="1050" b="0">
                <a:solidFill>
                  <a:srgbClr val="263238"/>
                </a:solidFill>
                <a:latin typeface="Microsoft YaHei"/>
              </a:rPr>
              <a:t>AppGallery Connect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383280" y="4270248"/>
            <a:ext cx="1435608" cy="987552"/>
          </a:xfrm>
          <a:prstGeom prst="roundRect">
            <a:avLst/>
          </a:prstGeom>
          <a:solidFill>
            <a:srgbClr val="EAF8F3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38144" y="4361688"/>
            <a:ext cx="1325880" cy="7863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263238"/>
                </a:solidFill>
                <a:latin typeface="Microsoft YaHei"/>
              </a:rPr>
              <a:t>文档 / API</a:t>
            </a:r>
            <a:br/>
            <a:r>
              <a:rPr sz="1050" b="0">
                <a:solidFill>
                  <a:srgbClr val="263238"/>
                </a:solidFill>
                <a:latin typeface="Microsoft YaHei"/>
              </a:rPr>
              <a:t>方案咨询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10912" y="4270248"/>
            <a:ext cx="1435608" cy="987552"/>
          </a:xfrm>
          <a:prstGeom prst="roundRect">
            <a:avLst/>
          </a:prstGeom>
          <a:solidFill>
            <a:srgbClr val="EAF8F3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65776" y="4361688"/>
            <a:ext cx="1325880" cy="7863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263238"/>
                </a:solidFill>
                <a:latin typeface="Microsoft YaHei"/>
              </a:rPr>
              <a:t>客户端 / 服务端</a:t>
            </a:r>
            <a:br/>
            <a:r>
              <a:rPr sz="1050" b="0">
                <a:solidFill>
                  <a:srgbClr val="263238"/>
                </a:solidFill>
                <a:latin typeface="Microsoft YaHei"/>
              </a:rPr>
              <a:t>示例工程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638544" y="4270248"/>
            <a:ext cx="1435608" cy="987552"/>
          </a:xfrm>
          <a:prstGeom prst="roundRect">
            <a:avLst/>
          </a:prstGeom>
          <a:solidFill>
            <a:srgbClr val="EAF8F3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93407" y="4361688"/>
            <a:ext cx="1325880" cy="7863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263238"/>
                </a:solidFill>
                <a:latin typeface="Microsoft YaHei"/>
              </a:rPr>
              <a:t>生产小额联调</a:t>
            </a:r>
            <a:br/>
            <a:r>
              <a:rPr sz="1050" b="0">
                <a:solidFill>
                  <a:srgbClr val="263238"/>
                </a:solidFill>
                <a:latin typeface="Microsoft YaHei"/>
              </a:rPr>
              <a:t>专家支持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66175" y="4270248"/>
            <a:ext cx="1435608" cy="987552"/>
          </a:xfrm>
          <a:prstGeom prst="roundRect">
            <a:avLst/>
          </a:prstGeom>
          <a:solidFill>
            <a:srgbClr val="EAF8F3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21040" y="4361688"/>
            <a:ext cx="1325880" cy="7863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263238"/>
                </a:solidFill>
                <a:latin typeface="Microsoft YaHei"/>
              </a:rPr>
              <a:t>准入门禁</a:t>
            </a:r>
            <a:br/>
            <a:r>
              <a:rPr sz="1050" b="0">
                <a:solidFill>
                  <a:srgbClr val="263238"/>
                </a:solidFill>
                <a:latin typeface="Microsoft YaHei"/>
              </a:rPr>
              <a:t>上线护航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893808" y="4270248"/>
            <a:ext cx="1435608" cy="987552"/>
          </a:xfrm>
          <a:prstGeom prst="roundRect">
            <a:avLst/>
          </a:prstGeom>
          <a:solidFill>
            <a:srgbClr val="EAF8F3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948672" y="4361688"/>
            <a:ext cx="1325880" cy="7863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263238"/>
                </a:solidFill>
                <a:latin typeface="Microsoft YaHei"/>
              </a:rPr>
              <a:t>报表 / 退款</a:t>
            </a:r>
            <a:br/>
            <a:r>
              <a:rPr sz="1050" b="0">
                <a:solidFill>
                  <a:srgbClr val="263238"/>
                </a:solidFill>
                <a:latin typeface="Microsoft YaHei"/>
              </a:rPr>
              <a:t>对账 / 排障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02920" y="5623560"/>
            <a:ext cx="10972800" cy="4754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9808" y="5715000"/>
            <a:ext cx="1051560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72B4D"/>
                </a:solidFill>
                <a:latin typeface="Microsoft YaHei"/>
              </a:rPr>
              <a:t>闭环机制：接入数据与工单 → Top 问题识别 → 文档 / SDK / Skill / 工具改进 → 版本发布 → 效果度量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778240" y="6016752"/>
            <a:ext cx="2880360" cy="384048"/>
          </a:xfrm>
          <a:prstGeom prst="roundRect">
            <a:avLst/>
          </a:prstGeom>
          <a:solidFill>
            <a:srgbClr val="FFFBEA"/>
          </a:solidFill>
          <a:ln w="12700">
            <a:solidFill>
              <a:srgbClr val="F0D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887968" y="6053328"/>
            <a:ext cx="2670048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67085"/>
                </a:solidFill>
                <a:latin typeface="Microsoft YaHei"/>
              </a:rPr>
              <a:t>讲述提示：强调不是单点 SDK 建设，而是覆盖开发者全生命周期的交付体系。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6528816"/>
            <a:ext cx="987552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67085"/>
                </a:solidFill>
                <a:latin typeface="Microsoft YaHei"/>
              </a:rPr>
              <a:t>鸿蒙支付开放能力｜开发者效率提升和支撑专项｜内部汇报模板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21240" y="6528816"/>
            <a:ext cx="173736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1769E0"/>
                </a:solidFill>
                <a:latin typeface="Microsoft YaHei"/>
              </a:rPr>
              <a:t>所有【待填】内容均可编辑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0292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769E0"/>
                </a:solidFill>
                <a:latin typeface="Microsoft YaHe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28600"/>
            <a:ext cx="1028700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72B4D"/>
                </a:solidFill>
                <a:latin typeface="Microsoft YaHei"/>
              </a:rPr>
              <a:t>五大关键专项：从单点工具走向体系化交付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41248"/>
            <a:ext cx="11155680" cy="0"/>
          </a:xfrm>
          <a:prstGeom prst="line">
            <a:avLst/>
          </a:prstGeom>
          <a:ln w="1270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02920" y="1234440"/>
            <a:ext cx="202996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2029968" cy="676656"/>
          </a:xfrm>
          <a:prstGeom prst="roundRect">
            <a:avLst/>
          </a:prstGeom>
          <a:solidFill>
            <a:srgbClr val="1769E0"/>
          </a:solidFill>
          <a:ln w="12700">
            <a:solidFill>
              <a:srgbClr val="176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353312"/>
            <a:ext cx="384048" cy="31089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1353312"/>
            <a:ext cx="1298448" cy="31089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AI 接入提效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67128"/>
            <a:ext cx="1664208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263238"/>
                </a:solidFill>
                <a:latin typeface="Microsoft YaHei"/>
              </a:rPr>
              <a:t>Payment Skill 2.0</a:t>
            </a:r>
            <a:br/>
            <a:r>
              <a:rPr sz="1300" b="0">
                <a:solidFill>
                  <a:srgbClr val="263238"/>
                </a:solidFill>
                <a:latin typeface="Microsoft YaHei"/>
              </a:rPr>
              <a:t>场景任务编排</a:t>
            </a:r>
            <a:br/>
            <a:r>
              <a:rPr sz="1300" b="0">
                <a:solidFill>
                  <a:srgbClr val="263238"/>
                </a:solidFill>
                <a:latin typeface="Microsoft YaHei"/>
              </a:rPr>
              <a:t>代码生成与检查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3611880"/>
            <a:ext cx="1572768" cy="0"/>
          </a:xfrm>
          <a:prstGeom prst="line">
            <a:avLst/>
          </a:prstGeom>
          <a:ln w="1270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3749039"/>
            <a:ext cx="155448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67085"/>
                </a:solidFill>
                <a:latin typeface="Microsoft YaHei"/>
              </a:rPr>
              <a:t>阶段交付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95928"/>
            <a:ext cx="1554480" cy="9601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769E0"/>
                </a:solidFill>
                <a:latin typeface="Microsoft YaHei"/>
              </a:rPr>
              <a:t>【待填】</a:t>
            </a:r>
            <a:br/>
            <a:br/>
            <a:r>
              <a:rPr sz="1050" b="0">
                <a:solidFill>
                  <a:srgbClr val="1769E0"/>
                </a:solidFill>
                <a:latin typeface="Microsoft YaHei"/>
              </a:rPr>
              <a:t>验收指标：【待填】</a:t>
            </a:r>
            <a:br/>
            <a:r>
              <a:rPr sz="1050" b="0">
                <a:solidFill>
                  <a:srgbClr val="1769E0"/>
                </a:solidFill>
                <a:latin typeface="Microsoft YaHei"/>
              </a:rPr>
              <a:t>责任团队：【待填】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7208" y="1234440"/>
            <a:ext cx="202996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07208" y="1234440"/>
            <a:ext cx="2029968" cy="676656"/>
          </a:xfrm>
          <a:prstGeom prst="roundRect">
            <a:avLst/>
          </a:prstGeom>
          <a:solidFill>
            <a:srgbClr val="00A9CE"/>
          </a:solidFill>
          <a:ln w="12700">
            <a:solidFill>
              <a:srgbClr val="00A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53512" y="1353312"/>
            <a:ext cx="384048" cy="31089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4136" y="1353312"/>
            <a:ext cx="1298448" cy="31089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SDK 易用性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0088" y="2167128"/>
            <a:ext cx="1664208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263238"/>
                </a:solidFill>
                <a:latin typeface="Microsoft YaHei"/>
              </a:rPr>
              <a:t>Java SDK 增强</a:t>
            </a:r>
            <a:br/>
            <a:r>
              <a:rPr sz="1300" b="0">
                <a:solidFill>
                  <a:srgbClr val="263238"/>
                </a:solidFill>
                <a:latin typeface="Microsoft YaHei"/>
              </a:rPr>
              <a:t>语言覆盖评估</a:t>
            </a:r>
            <a:br/>
            <a:r>
              <a:rPr sz="1300" b="0">
                <a:solidFill>
                  <a:srgbClr val="263238"/>
                </a:solidFill>
                <a:latin typeface="Microsoft YaHei"/>
              </a:rPr>
              <a:t>统一异常与安全封装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035808" y="3611880"/>
            <a:ext cx="1572768" cy="0"/>
          </a:xfrm>
          <a:prstGeom prst="line">
            <a:avLst/>
          </a:prstGeom>
          <a:ln w="1270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035808" y="3749039"/>
            <a:ext cx="155448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67085"/>
                </a:solidFill>
                <a:latin typeface="Microsoft YaHei"/>
              </a:rPr>
              <a:t>阶段交付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5808" y="3995928"/>
            <a:ext cx="1554480" cy="9601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9CE"/>
                </a:solidFill>
                <a:latin typeface="Microsoft YaHei"/>
              </a:rPr>
              <a:t>【待填】</a:t>
            </a:r>
            <a:br/>
            <a:br/>
            <a:r>
              <a:rPr sz="1050" b="0">
                <a:solidFill>
                  <a:srgbClr val="00A9CE"/>
                </a:solidFill>
                <a:latin typeface="Microsoft YaHei"/>
              </a:rPr>
              <a:t>验收指标：【待填】</a:t>
            </a:r>
            <a:br/>
            <a:r>
              <a:rPr sz="1050" b="0">
                <a:solidFill>
                  <a:srgbClr val="00A9CE"/>
                </a:solidFill>
                <a:latin typeface="Microsoft YaHei"/>
              </a:rPr>
              <a:t>责任团队：【待填】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11496" y="1234440"/>
            <a:ext cx="202996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111496" y="1234440"/>
            <a:ext cx="2029968" cy="676656"/>
          </a:xfrm>
          <a:prstGeom prst="roundRect">
            <a:avLst/>
          </a:prstGeom>
          <a:solidFill>
            <a:srgbClr val="7B61A8"/>
          </a:solidFill>
          <a:ln w="12700">
            <a:solidFill>
              <a:srgbClr val="7B6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7800" y="1353312"/>
            <a:ext cx="384048" cy="31089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78424" y="1353312"/>
            <a:ext cx="1298448" cy="31089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联调工具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94376" y="2167128"/>
            <a:ext cx="1664208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263238"/>
                </a:solidFill>
                <a:latin typeface="Microsoft YaHei"/>
              </a:rPr>
              <a:t>签名验证</a:t>
            </a:r>
            <a:br/>
            <a:r>
              <a:rPr sz="1300" b="0">
                <a:solidFill>
                  <a:srgbClr val="263238"/>
                </a:solidFill>
                <a:latin typeface="Microsoft YaHei"/>
              </a:rPr>
              <a:t>回调模拟</a:t>
            </a:r>
            <a:br/>
            <a:r>
              <a:rPr sz="1300" b="0">
                <a:solidFill>
                  <a:srgbClr val="263238"/>
                </a:solidFill>
                <a:latin typeface="Microsoft YaHei"/>
              </a:rPr>
              <a:t>异常场景测试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340096" y="3611880"/>
            <a:ext cx="1572768" cy="0"/>
          </a:xfrm>
          <a:prstGeom prst="line">
            <a:avLst/>
          </a:prstGeom>
          <a:ln w="1270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340096" y="3749039"/>
            <a:ext cx="155448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67085"/>
                </a:solidFill>
                <a:latin typeface="Microsoft YaHei"/>
              </a:rPr>
              <a:t>阶段交付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0096" y="3995928"/>
            <a:ext cx="1554480" cy="9601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7B61A8"/>
                </a:solidFill>
                <a:latin typeface="Microsoft YaHei"/>
              </a:rPr>
              <a:t>【待填】</a:t>
            </a:r>
            <a:br/>
            <a:br/>
            <a:r>
              <a:rPr sz="1050" b="0">
                <a:solidFill>
                  <a:srgbClr val="7B61A8"/>
                </a:solidFill>
                <a:latin typeface="Microsoft YaHei"/>
              </a:rPr>
              <a:t>验收指标：【待填】</a:t>
            </a:r>
            <a:br/>
            <a:r>
              <a:rPr sz="1050" b="0">
                <a:solidFill>
                  <a:srgbClr val="7B61A8"/>
                </a:solidFill>
                <a:latin typeface="Microsoft YaHei"/>
              </a:rPr>
              <a:t>责任团队：【待填】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15784" y="1234440"/>
            <a:ext cx="202996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15784" y="1234440"/>
            <a:ext cx="2029968" cy="676656"/>
          </a:xfrm>
          <a:prstGeom prst="round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62088" y="1353312"/>
            <a:ext cx="384048" cy="31089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82712" y="1353312"/>
            <a:ext cx="1298448" cy="31089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上线保障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98664" y="2167128"/>
            <a:ext cx="1664208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263238"/>
                </a:solidFill>
                <a:latin typeface="Microsoft YaHei"/>
              </a:rPr>
              <a:t>自动检查清单</a:t>
            </a:r>
            <a:br/>
            <a:r>
              <a:rPr sz="1300" b="0">
                <a:solidFill>
                  <a:srgbClr val="263238"/>
                </a:solidFill>
                <a:latin typeface="Microsoft YaHei"/>
              </a:rPr>
              <a:t>准入门禁</a:t>
            </a:r>
            <a:br/>
            <a:r>
              <a:rPr sz="1300" b="0">
                <a:solidFill>
                  <a:srgbClr val="263238"/>
                </a:solidFill>
                <a:latin typeface="Microsoft YaHei"/>
              </a:rPr>
              <a:t>首发护航与监控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644384" y="3611880"/>
            <a:ext cx="1572768" cy="0"/>
          </a:xfrm>
          <a:prstGeom prst="line">
            <a:avLst/>
          </a:prstGeom>
          <a:ln w="1270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644384" y="3749039"/>
            <a:ext cx="155448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67085"/>
                </a:solidFill>
                <a:latin typeface="Microsoft YaHei"/>
              </a:rPr>
              <a:t>阶段交付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44384" y="3995928"/>
            <a:ext cx="1554480" cy="9601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D64545"/>
                </a:solidFill>
                <a:latin typeface="Microsoft YaHei"/>
              </a:rPr>
              <a:t>【待填】</a:t>
            </a:r>
            <a:br/>
            <a:br/>
            <a:r>
              <a:rPr sz="1050" b="0">
                <a:solidFill>
                  <a:srgbClr val="D64545"/>
                </a:solidFill>
                <a:latin typeface="Microsoft YaHei"/>
              </a:rPr>
              <a:t>验收指标：【待填】</a:t>
            </a:r>
            <a:br/>
            <a:r>
              <a:rPr sz="1050" b="0">
                <a:solidFill>
                  <a:srgbClr val="D64545"/>
                </a:solidFill>
                <a:latin typeface="Microsoft YaHei"/>
              </a:rPr>
              <a:t>责任团队：【待填】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20072" y="1234440"/>
            <a:ext cx="202996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720072" y="1234440"/>
            <a:ext cx="2029968" cy="676656"/>
          </a:xfrm>
          <a:prstGeom prst="roundRect">
            <a:avLst/>
          </a:prstGeom>
          <a:solidFill>
            <a:srgbClr val="00A884"/>
          </a:solidFill>
          <a:ln w="12700"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66376" y="1353312"/>
            <a:ext cx="384048" cy="31089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87000" y="1353312"/>
            <a:ext cx="1298448" cy="31089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支撑数字化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02952" y="2167128"/>
            <a:ext cx="1664208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263238"/>
                </a:solidFill>
                <a:latin typeface="Microsoft YaHei"/>
              </a:rPr>
              <a:t>开发者旅程埋点</a:t>
            </a:r>
            <a:br/>
            <a:r>
              <a:rPr sz="1300" b="0">
                <a:solidFill>
                  <a:srgbClr val="263238"/>
                </a:solidFill>
                <a:latin typeface="Microsoft YaHei"/>
              </a:rPr>
              <a:t>接入看板</a:t>
            </a:r>
            <a:br/>
            <a:r>
              <a:rPr sz="1300" b="0">
                <a:solidFill>
                  <a:srgbClr val="263238"/>
                </a:solidFill>
                <a:latin typeface="Microsoft YaHei"/>
              </a:rPr>
              <a:t>工单与知识闭环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948672" y="3611880"/>
            <a:ext cx="1572768" cy="0"/>
          </a:xfrm>
          <a:prstGeom prst="line">
            <a:avLst/>
          </a:prstGeom>
          <a:ln w="1270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948672" y="3749039"/>
            <a:ext cx="155448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67085"/>
                </a:solidFill>
                <a:latin typeface="Microsoft YaHei"/>
              </a:rPr>
              <a:t>阶段交付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48672" y="3995928"/>
            <a:ext cx="1554480" cy="9601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884"/>
                </a:solidFill>
                <a:latin typeface="Microsoft YaHei"/>
              </a:rPr>
              <a:t>【待填】</a:t>
            </a:r>
            <a:br/>
            <a:br/>
            <a:r>
              <a:rPr sz="1050" b="0">
                <a:solidFill>
                  <a:srgbClr val="00A884"/>
                </a:solidFill>
                <a:latin typeface="Microsoft YaHei"/>
              </a:rPr>
              <a:t>验收指标：【待填】</a:t>
            </a:r>
            <a:br/>
            <a:r>
              <a:rPr sz="1050" b="0">
                <a:solidFill>
                  <a:srgbClr val="00A884"/>
                </a:solidFill>
                <a:latin typeface="Microsoft YaHei"/>
              </a:rPr>
              <a:t>责任团队：【待填】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" y="5504688"/>
            <a:ext cx="10972800" cy="53035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9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" y="5605272"/>
            <a:ext cx="10469880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72B4D"/>
                </a:solidFill>
                <a:latin typeface="Microsoft YaHei"/>
              </a:rPr>
              <a:t>优先级建议：先做可度量的基础设施与高频痛点，再扩展长尾场景和更多语言 SDK。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778240" y="6016752"/>
            <a:ext cx="2880360" cy="384048"/>
          </a:xfrm>
          <a:prstGeom prst="roundRect">
            <a:avLst/>
          </a:prstGeom>
          <a:solidFill>
            <a:srgbClr val="FFFBEA"/>
          </a:solidFill>
          <a:ln w="12700">
            <a:solidFill>
              <a:srgbClr val="F0D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87968" y="6053328"/>
            <a:ext cx="2670048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67085"/>
                </a:solidFill>
                <a:latin typeface="Microsoft YaHei"/>
              </a:rPr>
              <a:t>讲述提示：逐项讲清楚问题、交付物、验收指标和责任团队。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528816"/>
            <a:ext cx="987552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67085"/>
                </a:solidFill>
                <a:latin typeface="Microsoft YaHei"/>
              </a:rPr>
              <a:t>鸿蒙支付开放能力｜开发者效率提升和支撑专项｜内部汇报模板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21240" y="6528816"/>
            <a:ext cx="173736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1769E0"/>
                </a:solidFill>
                <a:latin typeface="Microsoft YaHei"/>
              </a:rPr>
              <a:t>所有【待填】内容均可编辑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0292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769E0"/>
                </a:solidFill>
                <a:latin typeface="Microsoft YaHe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28600"/>
            <a:ext cx="1028700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72B4D"/>
                </a:solidFill>
                <a:latin typeface="Microsoft YaHei"/>
              </a:rPr>
              <a:t>重点专项一：AI 接入与开发资产一体化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41248"/>
            <a:ext cx="11155680" cy="0"/>
          </a:xfrm>
          <a:prstGeom prst="line">
            <a:avLst/>
          </a:prstGeom>
          <a:ln w="1270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1143000"/>
            <a:ext cx="3456432" cy="443484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143000"/>
            <a:ext cx="73152" cy="4434840"/>
          </a:xfrm>
          <a:prstGeom prst="rect">
            <a:avLst/>
          </a:prstGeom>
          <a:solidFill>
            <a:srgbClr val="1769E0"/>
          </a:solidFill>
          <a:ln>
            <a:solidFill>
              <a:srgbClr val="176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252728"/>
            <a:ext cx="310896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2B4D"/>
                </a:solidFill>
                <a:latin typeface="Microsoft YaHei"/>
              </a:rPr>
              <a:t>Payment Skill 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7"/>
            <a:ext cx="3145536" cy="3822191"/>
          </a:xfrm>
          <a:prstGeom prst="rect">
            <a:avLst/>
          </a:prstGeom>
          <a:noFill/>
        </p:spPr>
        <p:txBody>
          <a:bodyPr wrap="square" rIns="73152" tIns="73152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按商户模型生成接入任务清单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覆盖支付、签约、退款等场景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生成端侧与服务端代码骨架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内置安全红线与错误诊断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生成结果可追溯、可审查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143000"/>
            <a:ext cx="3456432" cy="4434840"/>
          </a:xfrm>
          <a:prstGeom prst="roundRect">
            <a:avLst/>
          </a:prstGeom>
          <a:solidFill>
            <a:srgbClr val="ECFAFD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143000"/>
            <a:ext cx="73152" cy="4434840"/>
          </a:xfrm>
          <a:prstGeom prst="rect">
            <a:avLst/>
          </a:prstGeom>
          <a:solidFill>
            <a:srgbClr val="00A9CE"/>
          </a:solidFill>
          <a:ln>
            <a:solidFill>
              <a:srgbClr val="00A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1144" y="1252728"/>
            <a:ext cx="310896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2B4D"/>
                </a:solidFill>
                <a:latin typeface="Microsoft YaHei"/>
              </a:rPr>
              <a:t>SDK / Sample 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664207"/>
            <a:ext cx="3145536" cy="3822191"/>
          </a:xfrm>
          <a:prstGeom prst="rect">
            <a:avLst/>
          </a:prstGeom>
          <a:noFill/>
        </p:spPr>
        <p:txBody>
          <a:bodyPr wrap="square" rIns="73152" tIns="73152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@kit.PaymentKit 易用性优化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pay-java 业务与异常模型增强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主流技术栈最小可运行 Demo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签名、回调、幂等参考实现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评估 Node.js / Go 等语言需求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143000"/>
            <a:ext cx="3456432" cy="4434840"/>
          </a:xfrm>
          <a:prstGeom prst="roundRect">
            <a:avLst/>
          </a:prstGeom>
          <a:solidFill>
            <a:srgbClr val="EAF8F3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143000"/>
            <a:ext cx="73152" cy="4434840"/>
          </a:xfrm>
          <a:prstGeom prst="rect">
            <a:avLst/>
          </a:prstGeom>
          <a:solidFill>
            <a:srgbClr val="00A884"/>
          </a:solidFill>
          <a:ln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2" y="1252728"/>
            <a:ext cx="310896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2B4D"/>
                </a:solidFill>
                <a:latin typeface="Microsoft YaHei"/>
              </a:rPr>
              <a:t>文档 / 诊断资产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664207"/>
            <a:ext cx="3145536" cy="3822191"/>
          </a:xfrm>
          <a:prstGeom prst="rect">
            <a:avLst/>
          </a:prstGeom>
          <a:noFill/>
        </p:spPr>
        <p:txBody>
          <a:bodyPr wrap="square" rIns="73152" tIns="73152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按开发者旅程重构文档导航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场景化快速接入与可复制示例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错误码—原因—检查—修复映射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配置检查与回调诊断工具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文档、SDK、Skill 版本一致性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788152"/>
            <a:ext cx="804672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69E0"/>
                </a:solidFill>
                <a:latin typeface="Microsoft YaHei"/>
              </a:rPr>
              <a:t>验收结果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5715000"/>
            <a:ext cx="973836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72B4D"/>
                </a:solidFill>
                <a:latin typeface="Microsoft YaHei"/>
              </a:rPr>
              <a:t>接入步骤减少【待填】｜代码复用率【待填】｜首次成功率提升【待填】｜自助解决率【待填】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0" y="6016752"/>
            <a:ext cx="2880360" cy="384048"/>
          </a:xfrm>
          <a:prstGeom prst="roundRect">
            <a:avLst/>
          </a:prstGeom>
          <a:solidFill>
            <a:srgbClr val="FFFBEA"/>
          </a:solidFill>
          <a:ln w="12700">
            <a:solidFill>
              <a:srgbClr val="F0D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87968" y="6053328"/>
            <a:ext cx="2670048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67085"/>
                </a:solidFill>
                <a:latin typeface="Microsoft YaHei"/>
              </a:rPr>
              <a:t>讲述提示：Skill 是开发辅助，不替代商户审核、安全验收和上线门禁。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28816"/>
            <a:ext cx="987552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67085"/>
                </a:solidFill>
                <a:latin typeface="Microsoft YaHei"/>
              </a:rPr>
              <a:t>鸿蒙支付开放能力｜开发者效率提升和支撑专项｜内部汇报模板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6528816"/>
            <a:ext cx="173736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1769E0"/>
                </a:solidFill>
                <a:latin typeface="Microsoft YaHei"/>
              </a:rPr>
              <a:t>所有【待填】内容均可编辑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0292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769E0"/>
                </a:solidFill>
                <a:latin typeface="Microsoft YaHe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28600"/>
            <a:ext cx="1028700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72B4D"/>
                </a:solidFill>
                <a:latin typeface="Microsoft YaHei"/>
              </a:rPr>
              <a:t>重点专项二：联调、上线门禁与生产兜底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41248"/>
            <a:ext cx="11155680" cy="0"/>
          </a:xfrm>
          <a:prstGeom prst="line">
            <a:avLst/>
          </a:prstGeom>
          <a:ln w="1270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1207008"/>
            <a:ext cx="3456432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207008"/>
            <a:ext cx="73152" cy="3520440"/>
          </a:xfrm>
          <a:prstGeom prst="rect">
            <a:avLst/>
          </a:prstGeom>
          <a:solidFill>
            <a:srgbClr val="7B61A8"/>
          </a:solidFill>
          <a:ln>
            <a:solidFill>
              <a:srgbClr val="7B6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16736"/>
            <a:ext cx="310896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2B4D"/>
                </a:solidFill>
                <a:latin typeface="Microsoft YaHei"/>
              </a:rPr>
              <a:t>联调验证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28216"/>
            <a:ext cx="3145536" cy="2907792"/>
          </a:xfrm>
          <a:prstGeom prst="rect">
            <a:avLst/>
          </a:prstGeom>
          <a:noFill/>
        </p:spPr>
        <p:txBody>
          <a:bodyPr wrap="square" rIns="73152" tIns="73152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本地签名 / 验签工具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回调 Mock 与重复回调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成功、失败、取消、超时场景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并发、乱序与重试测试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生产小额受控联调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44168" y="4837176"/>
            <a:ext cx="1938528" cy="530352"/>
          </a:xfrm>
          <a:prstGeom prst="roundRect">
            <a:avLst/>
          </a:prstGeom>
          <a:solidFill>
            <a:srgbClr val="7B61A8"/>
          </a:solidFill>
          <a:ln w="12700">
            <a:solidFill>
              <a:srgbClr val="7B6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4892040"/>
            <a:ext cx="1691640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开发完成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520440" y="5102352"/>
            <a:ext cx="731520" cy="0"/>
          </a:xfrm>
          <a:prstGeom prst="line">
            <a:avLst/>
          </a:prstGeom>
          <a:ln w="2540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61688" y="1207008"/>
            <a:ext cx="3456432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1688" y="1207008"/>
            <a:ext cx="73152" cy="3520440"/>
          </a:xfrm>
          <a:prstGeom prst="rect">
            <a:avLst/>
          </a:prstGeom>
          <a:solidFill>
            <a:srgbClr val="D64545"/>
          </a:solidFill>
          <a:ln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316736"/>
            <a:ext cx="310896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2B4D"/>
                </a:solidFill>
                <a:latin typeface="Microsoft YaHei"/>
              </a:rPr>
              <a:t>上线门禁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1728216"/>
            <a:ext cx="3145536" cy="2907792"/>
          </a:xfrm>
          <a:prstGeom prst="rect">
            <a:avLst/>
          </a:prstGeom>
          <a:noFill/>
        </p:spPr>
        <p:txBody>
          <a:bodyPr wrap="square" rIns="73152" tIns="73152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商户号与 AppID 绑定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证书、密钥及产品权限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HTTPS 回调连通性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先验签后更新订单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幂等、压测与参数复核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11496" y="4837176"/>
            <a:ext cx="1938528" cy="530352"/>
          </a:xfrm>
          <a:prstGeom prst="round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0368" y="4892040"/>
            <a:ext cx="1691640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允许上线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287768" y="5102352"/>
            <a:ext cx="731520" cy="0"/>
          </a:xfrm>
          <a:prstGeom prst="line">
            <a:avLst/>
          </a:prstGeom>
          <a:ln w="2540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129016" y="1207008"/>
            <a:ext cx="3456432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29016" y="1207008"/>
            <a:ext cx="73152" cy="3520440"/>
          </a:xfrm>
          <a:prstGeom prst="rect">
            <a:avLst/>
          </a:prstGeom>
          <a:solidFill>
            <a:srgbClr val="00A884"/>
          </a:solidFill>
          <a:ln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9328" y="1316736"/>
            <a:ext cx="310896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2B4D"/>
                </a:solidFill>
                <a:latin typeface="Microsoft YaHei"/>
              </a:rPr>
              <a:t>生产兜底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1728216"/>
            <a:ext cx="3145536" cy="2907792"/>
          </a:xfrm>
          <a:prstGeom prst="rect">
            <a:avLst/>
          </a:prstGeom>
          <a:noFill/>
        </p:spPr>
        <p:txBody>
          <a:bodyPr wrap="square" rIns="73152" tIns="73152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回调与主动查询互补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订单状态一致性检测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商户维度异常监控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首发护航与升级通道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退款、对账及问题复盘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78824" y="4837176"/>
            <a:ext cx="1938528" cy="530352"/>
          </a:xfrm>
          <a:prstGeom prst="roundRect">
            <a:avLst/>
          </a:prstGeom>
          <a:solidFill>
            <a:srgbClr val="00A884"/>
          </a:solidFill>
          <a:ln w="12700"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97696" y="4892040"/>
            <a:ext cx="1691640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持续稳定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650992"/>
            <a:ext cx="10972800" cy="45720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FF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742432"/>
            <a:ext cx="1056132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8A2525"/>
                </a:solidFill>
                <a:latin typeface="Microsoft YaHei"/>
              </a:rPr>
              <a:t>现状边界：Payment Kit 暂无明确免真实扣费独立沙盒；需同步推进受控测试环境或等价模拟能力评估。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78240" y="6016752"/>
            <a:ext cx="2880360" cy="384048"/>
          </a:xfrm>
          <a:prstGeom prst="roundRect">
            <a:avLst/>
          </a:prstGeom>
          <a:solidFill>
            <a:srgbClr val="FFFBEA"/>
          </a:solidFill>
          <a:ln w="12700">
            <a:solidFill>
              <a:srgbClr val="F0D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87968" y="6053328"/>
            <a:ext cx="2670048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67085"/>
                </a:solidFill>
                <a:latin typeface="Microsoft YaHei"/>
              </a:rPr>
              <a:t>讲述提示：把上线保障讲成可执行门禁，而不是仅依赖文档提醒。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28816"/>
            <a:ext cx="987552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67085"/>
                </a:solidFill>
                <a:latin typeface="Microsoft YaHei"/>
              </a:rPr>
              <a:t>鸿蒙支付开放能力｜开发者效率提升和支撑专项｜内部汇报模板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6528816"/>
            <a:ext cx="173736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1769E0"/>
                </a:solidFill>
                <a:latin typeface="Microsoft YaHei"/>
              </a:rPr>
              <a:t>所有【待填】内容均可编辑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0292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769E0"/>
                </a:solidFill>
                <a:latin typeface="Microsoft YaHei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28600"/>
            <a:ext cx="1028700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72B4D"/>
                </a:solidFill>
                <a:latin typeface="Microsoft YaHei"/>
              </a:rPr>
              <a:t>支撑模式升级：从人肉答疑到分层、自助和知识闭环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41248"/>
            <a:ext cx="11155680" cy="0"/>
          </a:xfrm>
          <a:prstGeom prst="line">
            <a:avLst/>
          </a:prstGeom>
          <a:ln w="1270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1143000"/>
            <a:ext cx="5486400" cy="640080"/>
          </a:xfrm>
          <a:prstGeom prst="roundRect">
            <a:avLst/>
          </a:prstGeom>
          <a:solidFill>
            <a:srgbClr val="1769E0"/>
          </a:solidFill>
          <a:ln w="12700">
            <a:solidFill>
              <a:srgbClr val="176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261872"/>
            <a:ext cx="438912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L0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261872"/>
            <a:ext cx="1005840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自助知识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5728" y="1261872"/>
            <a:ext cx="3154680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文档 / FAQ / Sample / 错误码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" y="2002536"/>
            <a:ext cx="5157216" cy="640080"/>
          </a:xfrm>
          <a:prstGeom prst="roundRect">
            <a:avLst/>
          </a:prstGeom>
          <a:solidFill>
            <a:srgbClr val="00A9CE"/>
          </a:solidFill>
          <a:ln w="12700">
            <a:solidFill>
              <a:srgbClr val="00A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21408"/>
            <a:ext cx="438912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L1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2121408"/>
            <a:ext cx="1005840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智能诊断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121408"/>
            <a:ext cx="2825496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Payment Skill / 配置检查 / 问题定位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" y="2862072"/>
            <a:ext cx="4828032" cy="640080"/>
          </a:xfrm>
          <a:prstGeom prst="roundRect">
            <a:avLst/>
          </a:prstGeom>
          <a:solidFill>
            <a:srgbClr val="00A884"/>
          </a:solidFill>
          <a:ln w="12700"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980944"/>
            <a:ext cx="438912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L2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3624" y="2980944"/>
            <a:ext cx="1005840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标准支持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4912" y="2980944"/>
            <a:ext cx="2496312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结构化工单 / 一线技术支持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8136" y="3721608"/>
            <a:ext cx="4498848" cy="640080"/>
          </a:xfrm>
          <a:prstGeom prst="roundRect">
            <a:avLst/>
          </a:prstGeom>
          <a:solidFill>
            <a:srgbClr val="F2994A"/>
          </a:solidFill>
          <a:ln w="1270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43584" y="3840480"/>
            <a:ext cx="438912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L3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28216" y="3840480"/>
            <a:ext cx="1005840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研发专家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9504" y="3840480"/>
            <a:ext cx="2167128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复杂接入 / 疑难问题 / 专项治理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52728" y="4581144"/>
            <a:ext cx="4169664" cy="640080"/>
          </a:xfrm>
          <a:prstGeom prst="round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08176" y="4700016"/>
            <a:ext cx="438912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L4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92808" y="4700016"/>
            <a:ext cx="1005840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联合保障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54096" y="4700016"/>
            <a:ext cx="1837944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重大生产问题 / 跨团队应急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1143000"/>
            <a:ext cx="5029200" cy="4069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9712" y="1371600"/>
            <a:ext cx="182880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B4D"/>
                </a:solidFill>
                <a:latin typeface="Microsoft YaHei"/>
              </a:rPr>
              <a:t>持续改进闭环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03720" y="2057400"/>
            <a:ext cx="193852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6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13448" y="2221992"/>
            <a:ext cx="1719072" cy="31089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769E0"/>
                </a:solidFill>
                <a:latin typeface="Microsoft YaHei"/>
              </a:rPr>
              <a:t>接入数据与工单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35440" y="2057400"/>
            <a:ext cx="193852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B6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7" y="2221992"/>
            <a:ext cx="1719072" cy="31089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7B61A8"/>
                </a:solidFill>
                <a:latin typeface="Microsoft YaHei"/>
              </a:rPr>
              <a:t>Top 问题识别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0" y="3703320"/>
            <a:ext cx="193852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45167" y="3867911"/>
            <a:ext cx="1719072" cy="31089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2994A"/>
                </a:solidFill>
                <a:latin typeface="Microsoft YaHei"/>
              </a:rPr>
              <a:t>工具与知识改进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03720" y="3703320"/>
            <a:ext cx="193852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13448" y="3867911"/>
            <a:ext cx="1719072" cy="31089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0A884"/>
                </a:solidFill>
                <a:latin typeface="Microsoft YaHei"/>
              </a:rPr>
              <a:t>发布与效果度量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842248" y="2414016"/>
            <a:ext cx="374904" cy="0"/>
          </a:xfrm>
          <a:prstGeom prst="line">
            <a:avLst/>
          </a:prstGeom>
          <a:ln w="2540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204704" y="2770632"/>
            <a:ext cx="0" cy="914400"/>
          </a:xfrm>
          <a:prstGeom prst="line">
            <a:avLst/>
          </a:prstGeom>
          <a:ln w="2540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8860536" y="4059936"/>
            <a:ext cx="356616" cy="0"/>
          </a:xfrm>
          <a:prstGeom prst="line">
            <a:avLst/>
          </a:prstGeom>
          <a:ln w="2540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872983" y="2788920"/>
            <a:ext cx="0" cy="896112"/>
          </a:xfrm>
          <a:prstGeom prst="line">
            <a:avLst/>
          </a:prstGeom>
          <a:ln w="2540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594360" y="5623560"/>
            <a:ext cx="10972800" cy="475488"/>
          </a:xfrm>
          <a:prstGeom prst="roundRect">
            <a:avLst/>
          </a:prstGeom>
          <a:solidFill>
            <a:srgbClr val="EAF8F3"/>
          </a:solidFill>
          <a:ln w="12700">
            <a:solidFill>
              <a:srgbClr val="B9E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" y="5715000"/>
            <a:ext cx="1056132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72B4D"/>
                </a:solidFill>
                <a:latin typeface="Microsoft YaHei"/>
              </a:rPr>
              <a:t>目标：【待填】自助解决率｜【待填】工单下降率｜【待填】平均响应时长｜Top 问题闭环周期【待填】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778240" y="6016752"/>
            <a:ext cx="2880360" cy="384048"/>
          </a:xfrm>
          <a:prstGeom prst="roundRect">
            <a:avLst/>
          </a:prstGeom>
          <a:solidFill>
            <a:srgbClr val="FFFBEA"/>
          </a:solidFill>
          <a:ln w="12700">
            <a:solidFill>
              <a:srgbClr val="F0D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87968" y="6053328"/>
            <a:ext cx="2670048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67085"/>
                </a:solidFill>
                <a:latin typeface="Microsoft YaHei"/>
              </a:rPr>
              <a:t>讲述提示：高频问题必须回灌产品资产，避免研发专家长期重复答疑。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528816"/>
            <a:ext cx="987552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67085"/>
                </a:solidFill>
                <a:latin typeface="Microsoft YaHei"/>
              </a:rPr>
              <a:t>鸿蒙支付开放能力｜开发者效率提升和支撑专项｜内部汇报模板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21240" y="6528816"/>
            <a:ext cx="173736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1769E0"/>
                </a:solidFill>
                <a:latin typeface="Microsoft YaHei"/>
              </a:rPr>
              <a:t>所有【待填】内容均可编辑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0292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769E0"/>
                </a:solidFill>
                <a:latin typeface="Microsoft YaHe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28600"/>
            <a:ext cx="1028700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72B4D"/>
                </a:solidFill>
                <a:latin typeface="Microsoft YaHei"/>
              </a:rPr>
              <a:t>交付路线：按能力阶段推进并设置可验收出口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41248"/>
            <a:ext cx="11155680" cy="0"/>
          </a:xfrm>
          <a:prstGeom prst="line">
            <a:avLst/>
          </a:prstGeom>
          <a:ln w="1270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1170432"/>
            <a:ext cx="345643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170432"/>
            <a:ext cx="73152" cy="2148840"/>
          </a:xfrm>
          <a:prstGeom prst="rect">
            <a:avLst/>
          </a:prstGeom>
          <a:solidFill>
            <a:srgbClr val="1769E0"/>
          </a:solidFill>
          <a:ln>
            <a:solidFill>
              <a:srgbClr val="176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280160"/>
            <a:ext cx="310896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2B4D"/>
                </a:solidFill>
                <a:latin typeface="Microsoft YaHei"/>
              </a:rPr>
              <a:t>阶段 A｜基线与高频问题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3145536" cy="1536192"/>
          </a:xfrm>
          <a:prstGeom prst="rect">
            <a:avLst/>
          </a:prstGeom>
          <a:noFill/>
        </p:spPr>
        <p:txBody>
          <a:bodyPr wrap="square" rIns="73152" tIns="73152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67085"/>
                </a:solidFill>
                <a:latin typeface="Microsoft YaHei"/>
              </a:rPr>
              <a:t>• 统一指标口径与旅程埋点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67085"/>
                </a:solidFill>
                <a:latin typeface="Microsoft YaHei"/>
              </a:rPr>
              <a:t>• 梳理 Top 问题与关键断点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67085"/>
                </a:solidFill>
                <a:latin typeface="Microsoft YaHei"/>
              </a:rPr>
              <a:t>• 完善基础支付 Skill 与检查清单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529584"/>
            <a:ext cx="3456432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685032"/>
            <a:ext cx="91440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9E0"/>
                </a:solidFill>
                <a:latin typeface="Microsoft YaHei"/>
              </a:rPr>
              <a:t>阶段出口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77639"/>
            <a:ext cx="2971800" cy="8046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63238"/>
                </a:solidFill>
                <a:latin typeface="Microsoft YaHei"/>
              </a:rPr>
              <a:t>交付物：【待填】</a:t>
            </a:r>
            <a:br/>
            <a:r>
              <a:rPr sz="1100" b="0">
                <a:solidFill>
                  <a:srgbClr val="263238"/>
                </a:solidFill>
                <a:latin typeface="Microsoft YaHei"/>
              </a:rPr>
              <a:t>验收指标：【待填】</a:t>
            </a:r>
            <a:br/>
            <a:r>
              <a:rPr sz="1100" b="0">
                <a:solidFill>
                  <a:srgbClr val="263238"/>
                </a:solidFill>
                <a:latin typeface="Microsoft YaHei"/>
              </a:rPr>
              <a:t>Owner：【待填】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50791" y="2267712"/>
            <a:ext cx="292609" cy="0"/>
          </a:xfrm>
          <a:prstGeom prst="line">
            <a:avLst/>
          </a:prstGeom>
          <a:ln w="2540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61688" y="1170432"/>
            <a:ext cx="345643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1170432"/>
            <a:ext cx="73152" cy="2148840"/>
          </a:xfrm>
          <a:prstGeom prst="rect">
            <a:avLst/>
          </a:prstGeom>
          <a:solidFill>
            <a:srgbClr val="7B61A8"/>
          </a:solidFill>
          <a:ln>
            <a:solidFill>
              <a:srgbClr val="7B6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280160"/>
            <a:ext cx="310896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2B4D"/>
                </a:solidFill>
                <a:latin typeface="Microsoft YaHei"/>
              </a:rPr>
              <a:t>阶段 B｜工具与门禁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1691640"/>
            <a:ext cx="3145536" cy="1536192"/>
          </a:xfrm>
          <a:prstGeom prst="rect">
            <a:avLst/>
          </a:prstGeom>
          <a:noFill/>
        </p:spPr>
        <p:txBody>
          <a:bodyPr wrap="square" rIns="73152" tIns="73152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67085"/>
                </a:solidFill>
                <a:latin typeface="Microsoft YaHei"/>
              </a:rPr>
              <a:t>• 联调、签名与回调诊断工具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67085"/>
                </a:solidFill>
                <a:latin typeface="Microsoft YaHei"/>
              </a:rPr>
              <a:t>• SDK / Sample / 文档版本协同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67085"/>
                </a:solidFill>
                <a:latin typeface="Microsoft YaHei"/>
              </a:rPr>
              <a:t>• 上线门禁及首发护航机制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1688" y="3529584"/>
            <a:ext cx="3456432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3685032"/>
            <a:ext cx="91440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B61A8"/>
                </a:solidFill>
                <a:latin typeface="Microsoft YaHei"/>
              </a:rPr>
              <a:t>阶段出口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3977639"/>
            <a:ext cx="2971800" cy="8046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63238"/>
                </a:solidFill>
                <a:latin typeface="Microsoft YaHei"/>
              </a:rPr>
              <a:t>交付物：【待填】</a:t>
            </a:r>
            <a:br/>
            <a:r>
              <a:rPr sz="1100" b="0">
                <a:solidFill>
                  <a:srgbClr val="263238"/>
                </a:solidFill>
                <a:latin typeface="Microsoft YaHei"/>
              </a:rPr>
              <a:t>验收指标：【待填】</a:t>
            </a:r>
            <a:br/>
            <a:r>
              <a:rPr sz="1100" b="0">
                <a:solidFill>
                  <a:srgbClr val="263238"/>
                </a:solidFill>
                <a:latin typeface="Microsoft YaHei"/>
              </a:rPr>
              <a:t>Owner：【待填】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18120" y="2267712"/>
            <a:ext cx="292608" cy="0"/>
          </a:xfrm>
          <a:prstGeom prst="line">
            <a:avLst/>
          </a:prstGeom>
          <a:ln w="2540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129016" y="1170432"/>
            <a:ext cx="345643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29016" y="1170432"/>
            <a:ext cx="73152" cy="2148840"/>
          </a:xfrm>
          <a:prstGeom prst="rect">
            <a:avLst/>
          </a:prstGeom>
          <a:solidFill>
            <a:srgbClr val="00A884"/>
          </a:solidFill>
          <a:ln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8" y="1280160"/>
            <a:ext cx="310896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2B4D"/>
                </a:solidFill>
                <a:latin typeface="Microsoft YaHei"/>
              </a:rPr>
              <a:t>阶段 C｜规模化与闭环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1896" y="1691640"/>
            <a:ext cx="3145536" cy="1536192"/>
          </a:xfrm>
          <a:prstGeom prst="rect">
            <a:avLst/>
          </a:prstGeom>
          <a:noFill/>
        </p:spPr>
        <p:txBody>
          <a:bodyPr wrap="square" rIns="73152" tIns="73152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67085"/>
                </a:solidFill>
                <a:latin typeface="Microsoft YaHei"/>
              </a:rPr>
              <a:t>• 扩展支付场景及技术栈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67085"/>
                </a:solidFill>
                <a:latin typeface="Microsoft YaHei"/>
              </a:rPr>
              <a:t>• 支撑分层与知识自动回流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67085"/>
                </a:solidFill>
                <a:latin typeface="Microsoft YaHei"/>
              </a:rPr>
              <a:t>• 数据驱动专项持续治理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29016" y="3529584"/>
            <a:ext cx="3456432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11896" y="3685032"/>
            <a:ext cx="91440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A884"/>
                </a:solidFill>
                <a:latin typeface="Microsoft YaHei"/>
              </a:rPr>
              <a:t>阶段出口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1896" y="3977639"/>
            <a:ext cx="2971800" cy="8046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63238"/>
                </a:solidFill>
                <a:latin typeface="Microsoft YaHei"/>
              </a:rPr>
              <a:t>交付物：【待填】</a:t>
            </a:r>
            <a:br/>
            <a:r>
              <a:rPr sz="1100" b="0">
                <a:solidFill>
                  <a:srgbClr val="263238"/>
                </a:solidFill>
                <a:latin typeface="Microsoft YaHei"/>
              </a:rPr>
              <a:t>验收指标：【待填】</a:t>
            </a:r>
            <a:br/>
            <a:r>
              <a:rPr sz="1100" b="0">
                <a:solidFill>
                  <a:srgbClr val="263238"/>
                </a:solidFill>
                <a:latin typeface="Microsoft YaHei"/>
              </a:rPr>
              <a:t>Owner：【待填】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5376672"/>
            <a:ext cx="10972800" cy="658368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FFD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5550408"/>
            <a:ext cx="1170432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05100"/>
                </a:solidFill>
                <a:latin typeface="Microsoft YaHei"/>
              </a:rPr>
              <a:t>里程碑填写原则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75688" y="5486400"/>
            <a:ext cx="909828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05100"/>
                </a:solidFill>
                <a:latin typeface="Microsoft YaHei"/>
              </a:rPr>
              <a:t>使用“能力完成 + 指标达到”的验收出口；具体日期、版本和团队排期由项目组补充。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78240" y="6016752"/>
            <a:ext cx="2880360" cy="384048"/>
          </a:xfrm>
          <a:prstGeom prst="roundRect">
            <a:avLst/>
          </a:prstGeom>
          <a:solidFill>
            <a:srgbClr val="FFFBEA"/>
          </a:solidFill>
          <a:ln w="12700">
            <a:solidFill>
              <a:srgbClr val="F0D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87968" y="6053328"/>
            <a:ext cx="2670048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67085"/>
                </a:solidFill>
                <a:latin typeface="Microsoft YaHei"/>
              </a:rPr>
              <a:t>讲述提示：避免只列发布时间；每阶段都应有可验证的开发者结果。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28816"/>
            <a:ext cx="987552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67085"/>
                </a:solidFill>
                <a:latin typeface="Microsoft YaHei"/>
              </a:rPr>
              <a:t>鸿蒙支付开放能力｜开发者效率提升和支撑专项｜内部汇报模板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6528816"/>
            <a:ext cx="173736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1769E0"/>
                </a:solidFill>
                <a:latin typeface="Microsoft YaHei"/>
              </a:rPr>
              <a:t>所有【待填】内容均可编辑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0292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769E0"/>
                </a:solidFill>
                <a:latin typeface="Microsoft YaHe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28600"/>
            <a:ext cx="1028700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72B4D"/>
                </a:solidFill>
                <a:latin typeface="Microsoft YaHei"/>
              </a:rPr>
              <a:t>风险、依赖与需要 ST 决策的事项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41248"/>
            <a:ext cx="11155680" cy="0"/>
          </a:xfrm>
          <a:prstGeom prst="line">
            <a:avLst/>
          </a:prstGeom>
          <a:ln w="1270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1143000"/>
            <a:ext cx="3456432" cy="4498848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143000"/>
            <a:ext cx="73152" cy="4498848"/>
          </a:xfrm>
          <a:prstGeom prst="rect">
            <a:avLst/>
          </a:prstGeom>
          <a:solidFill>
            <a:srgbClr val="D64545"/>
          </a:solidFill>
          <a:ln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252728"/>
            <a:ext cx="310896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2B4D"/>
                </a:solidFill>
                <a:latin typeface="Microsoft YaHei"/>
              </a:rPr>
              <a:t>主要风险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7"/>
            <a:ext cx="3145536" cy="3886200"/>
          </a:xfrm>
          <a:prstGeom prst="rect">
            <a:avLst/>
          </a:prstGeom>
          <a:noFill/>
        </p:spPr>
        <p:txBody>
          <a:bodyPr wrap="square" rIns="73152" tIns="73152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缺少统一数据导致价值难量化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多平台、多团队依赖影响交付闭环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AI 生成结果存在安全与版本风险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测试环境不足影响联调效率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专项变成工具堆砌而非结果改进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143000"/>
            <a:ext cx="3456432" cy="4498848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143000"/>
            <a:ext cx="73152" cy="4498848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1144" y="1252728"/>
            <a:ext cx="310896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2B4D"/>
                </a:solidFill>
                <a:latin typeface="Microsoft YaHei"/>
              </a:rPr>
              <a:t>关键依赖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664207"/>
            <a:ext cx="3145536" cy="3886200"/>
          </a:xfrm>
          <a:prstGeom prst="rect">
            <a:avLst/>
          </a:prstGeom>
          <a:noFill/>
        </p:spPr>
        <p:txBody>
          <a:bodyPr wrap="square" rIns="73152" tIns="73152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商户平台与 AGC 配置数据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支付链路日志与埋点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工单及知识库数据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安全、测试、运营团队协同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SDK、文档、Skill 统一发布机制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143000"/>
            <a:ext cx="3456432" cy="449884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143000"/>
            <a:ext cx="73152" cy="4498848"/>
          </a:xfrm>
          <a:prstGeom prst="rect">
            <a:avLst/>
          </a:prstGeom>
          <a:solidFill>
            <a:srgbClr val="1769E0"/>
          </a:solidFill>
          <a:ln>
            <a:solidFill>
              <a:srgbClr val="176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2" y="1252728"/>
            <a:ext cx="310896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2B4D"/>
                </a:solidFill>
                <a:latin typeface="Microsoft YaHei"/>
              </a:rPr>
              <a:t>建议 ST 决策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664207"/>
            <a:ext cx="3145536" cy="3886200"/>
          </a:xfrm>
          <a:prstGeom prst="rect">
            <a:avLst/>
          </a:prstGeom>
          <a:noFill/>
        </p:spPr>
        <p:txBody>
          <a:bodyPr wrap="square" rIns="73152" tIns="73152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确认北极星指标及统一口径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确认五大专项优先级与 Owner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决策受控沙盒 / 模拟环境方向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决策服务端语言 SDK 投入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Microsoft YaHei"/>
              </a:rPr>
              <a:t>• 确认上线门禁与跨团队资源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5833872"/>
            <a:ext cx="10972800" cy="347472"/>
          </a:xfrm>
          <a:prstGeom prst="roundRect">
            <a:avLst/>
          </a:prstGeom>
          <a:solidFill>
            <a:srgbClr val="172B4D"/>
          </a:solidFill>
          <a:ln w="12700"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61304"/>
            <a:ext cx="1024128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会议结论记录：【待填】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0" y="6016752"/>
            <a:ext cx="2880360" cy="384048"/>
          </a:xfrm>
          <a:prstGeom prst="roundRect">
            <a:avLst/>
          </a:prstGeom>
          <a:solidFill>
            <a:srgbClr val="FFFBEA"/>
          </a:solidFill>
          <a:ln w="12700">
            <a:solidFill>
              <a:srgbClr val="F0D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87968" y="6053328"/>
            <a:ext cx="2670048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67085"/>
                </a:solidFill>
                <a:latin typeface="Microsoft YaHei"/>
              </a:rPr>
              <a:t>讲述提示：收口到明确决策、责任人和下一步，而不是只做信息同步。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28816"/>
            <a:ext cx="987552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67085"/>
                </a:solidFill>
                <a:latin typeface="Microsoft YaHei"/>
              </a:rPr>
              <a:t>鸿蒙支付开放能力｜开发者效率提升和支撑专项｜内部汇报模板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6528816"/>
            <a:ext cx="173736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1769E0"/>
                </a:solidFill>
                <a:latin typeface="Microsoft YaHei"/>
              </a:rPr>
              <a:t>所有【待填】内容均可编辑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0292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769E0"/>
                </a:solidFill>
                <a:latin typeface="Microsoft YaHei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28600"/>
            <a:ext cx="1028700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72B4D"/>
                </a:solidFill>
                <a:latin typeface="Microsoft YaHei"/>
              </a:rPr>
              <a:t>附录：模板填写清单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41248"/>
            <a:ext cx="11155680" cy="0"/>
          </a:xfrm>
          <a:prstGeom prst="line">
            <a:avLst/>
          </a:prstGeom>
          <a:ln w="1270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097280"/>
            <a:ext cx="594360" cy="594360"/>
          </a:xfrm>
          <a:prstGeom prst="roundRect">
            <a:avLst/>
          </a:prstGeom>
          <a:solidFill>
            <a:srgbClr val="1769E0"/>
          </a:solidFill>
          <a:ln w="12700">
            <a:solidFill>
              <a:srgbClr val="176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207007"/>
            <a:ext cx="438912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143000"/>
            <a:ext cx="123444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72B4D"/>
                </a:solidFill>
                <a:latin typeface="Microsoft YaHei"/>
              </a:rPr>
              <a:t>业务现状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124712"/>
            <a:ext cx="8092440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67085"/>
                </a:solidFill>
                <a:latin typeface="Microsoft YaHei"/>
              </a:rPr>
              <a:t>商户数量、典型接入周期、Top 失败原因、工单量及案例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44752" y="1764792"/>
            <a:ext cx="9848088" cy="0"/>
          </a:xfrm>
          <a:prstGeom prst="line">
            <a:avLst/>
          </a:prstGeom>
          <a:ln w="12700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" y="1993391"/>
            <a:ext cx="594360" cy="594360"/>
          </a:xfrm>
          <a:prstGeom prst="roundRect">
            <a:avLst/>
          </a:prstGeom>
          <a:solidFill>
            <a:srgbClr val="00A884"/>
          </a:solidFill>
          <a:ln w="12700"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103120"/>
            <a:ext cx="438912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039111"/>
            <a:ext cx="123444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72B4D"/>
                </a:solidFill>
                <a:latin typeface="Microsoft YaHei"/>
              </a:rPr>
              <a:t>目标指标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020823"/>
            <a:ext cx="8092440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67085"/>
                </a:solidFill>
                <a:latin typeface="Microsoft YaHei"/>
              </a:rPr>
              <a:t>基线、目标、统计口径、数据源、Owner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4752" y="2660903"/>
            <a:ext cx="9848088" cy="0"/>
          </a:xfrm>
          <a:prstGeom prst="line">
            <a:avLst/>
          </a:prstGeom>
          <a:ln w="12700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" y="2889504"/>
            <a:ext cx="594360" cy="594360"/>
          </a:xfrm>
          <a:prstGeom prst="roundRect">
            <a:avLst/>
          </a:prstGeom>
          <a:solidFill>
            <a:srgbClr val="7B61A8"/>
          </a:solidFill>
          <a:ln w="12700">
            <a:solidFill>
              <a:srgbClr val="7B6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999232"/>
            <a:ext cx="438912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935224"/>
            <a:ext cx="123444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72B4D"/>
                </a:solidFill>
                <a:latin typeface="Microsoft YaHei"/>
              </a:rPr>
              <a:t>专项交付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916936"/>
            <a:ext cx="8092440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67085"/>
                </a:solidFill>
                <a:latin typeface="Microsoft YaHei"/>
              </a:rPr>
              <a:t>范围、非范围、关键能力、阶段出口、责任团队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444752" y="3557016"/>
            <a:ext cx="9848088" cy="0"/>
          </a:xfrm>
          <a:prstGeom prst="line">
            <a:avLst/>
          </a:prstGeom>
          <a:ln w="12700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0080" y="3785615"/>
            <a:ext cx="594360" cy="594360"/>
          </a:xfrm>
          <a:prstGeom prst="round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895344"/>
            <a:ext cx="438912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831335"/>
            <a:ext cx="123444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72B4D"/>
                </a:solidFill>
                <a:latin typeface="Microsoft YaHei"/>
              </a:rPr>
              <a:t>上线保障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3813048"/>
            <a:ext cx="8092440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67085"/>
                </a:solidFill>
                <a:latin typeface="Microsoft YaHei"/>
              </a:rPr>
              <a:t>门禁项、验收方式、例外机制、生产护航方案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444752" y="4453127"/>
            <a:ext cx="9848088" cy="0"/>
          </a:xfrm>
          <a:prstGeom prst="line">
            <a:avLst/>
          </a:prstGeom>
          <a:ln w="12700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40080" y="4681728"/>
            <a:ext cx="594360" cy="594360"/>
          </a:xfrm>
          <a:prstGeom prst="roundRect">
            <a:avLst/>
          </a:prstGeom>
          <a:solidFill>
            <a:srgbClr val="F2994A"/>
          </a:solidFill>
          <a:ln w="1270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4791456"/>
            <a:ext cx="438912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727448"/>
            <a:ext cx="123444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72B4D"/>
                </a:solidFill>
                <a:latin typeface="Microsoft YaHei"/>
              </a:rPr>
              <a:t>资源与决策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4709160"/>
            <a:ext cx="8092440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67085"/>
                </a:solidFill>
                <a:latin typeface="Microsoft YaHei"/>
              </a:rPr>
              <a:t>跨团队依赖、人员与环境投入、需要 ST 决策事项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444752" y="5349240"/>
            <a:ext cx="9848088" cy="0"/>
          </a:xfrm>
          <a:prstGeom prst="line">
            <a:avLst/>
          </a:prstGeom>
          <a:ln w="12700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40080" y="5806440"/>
            <a:ext cx="10927080" cy="4206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5879592"/>
            <a:ext cx="1051560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9E0"/>
                </a:solidFill>
                <a:latin typeface="Microsoft YaHei"/>
              </a:rPr>
              <a:t>编辑说明：可直接替换【待填】文字；所有图形、文本框、流程线及指标卡均为 PPT 原生可编辑元素。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528816"/>
            <a:ext cx="987552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67085"/>
                </a:solidFill>
                <a:latin typeface="Microsoft YaHei"/>
              </a:rPr>
              <a:t>鸿蒙支付开放能力｜开发者效率提升和支撑专项｜内部汇报模板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6528816"/>
            <a:ext cx="173736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1769E0"/>
                </a:solidFill>
                <a:latin typeface="Microsoft YaHei"/>
              </a:rPr>
              <a:t>所有【待填】内容均可编辑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